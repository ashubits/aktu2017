
<file path=[Content_Types].xml><?xml version="1.0" encoding="utf-8"?>
<Types xmlns="http://schemas.openxmlformats.org/package/2006/content-types">
  <Override PartName="/ppt/slideMasters/slideMaster2.xml" ContentType="application/vnd.openxmlformats-officedocument.presentationml.slideMaster+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9.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2" r:id="rId1"/>
    <p:sldMasterId id="2147483734" r:id="rId2"/>
  </p:sldMasterIdLst>
  <p:sldIdLst>
    <p:sldId id="256" r:id="rId3"/>
    <p:sldId id="257" r:id="rId4"/>
    <p:sldId id="258" r:id="rId5"/>
    <p:sldId id="259" r:id="rId6"/>
    <p:sldId id="266" r:id="rId7"/>
    <p:sldId id="260" r:id="rId8"/>
    <p:sldId id="261" r:id="rId9"/>
    <p:sldId id="262"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798" y="-96"/>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562707" y="1371600"/>
            <a:ext cx="109728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9D21D778-B565-4D7E-94D7-64010A445B68}" type="datetimeFigureOut">
              <a:rPr lang="en-US" smtClean="0"/>
              <a:pPr/>
              <a:t>10/30/2017</a:t>
            </a:fld>
            <a:endParaRPr lang="en-US"/>
          </a:p>
        </p:txBody>
      </p:sp>
      <p:sp>
        <p:nvSpPr>
          <p:cNvPr id="17" name="Footer Placeholder 16"/>
          <p:cNvSpPr>
            <a:spLocks noGrp="1"/>
          </p:cNvSpPr>
          <p:nvPr>
            <p:ph type="ftr" sz="quarter" idx="11"/>
          </p:nvPr>
        </p:nvSpPr>
        <p:spPr/>
        <p:txBody>
          <a:bodyPr/>
          <a:lstStyle/>
          <a:p>
            <a:endParaRPr kumimoji="0" lang="en-US"/>
          </a:p>
        </p:txBody>
      </p:sp>
      <p:sp>
        <p:nvSpPr>
          <p:cNvPr id="29" name="Slide Number Placeholder 28"/>
          <p:cNvSpPr>
            <a:spLocks noGrp="1"/>
          </p:cNvSpPr>
          <p:nvPr>
            <p:ph type="sldNum" sz="quarter" idx="12"/>
          </p:nvPr>
        </p:nvSpPr>
        <p:spPr/>
        <p:txBody>
          <a:bodyPr/>
          <a:lstStyle/>
          <a:p>
            <a:fld id="{2C6B1FF6-39B9-40F5-8B67-33C6354A3D4F}" type="slidenum">
              <a:rPr kumimoji="0" lang="en-US" smtClean="0"/>
              <a:pPr/>
              <a:t>‹#›</a:t>
            </a:fld>
            <a:endParaRPr kumimoji="0" lang="en-US" dirty="0">
              <a:solidFill>
                <a:schemeClr val="accent3">
                  <a:shade val="75000"/>
                </a:schemeClr>
              </a:solidFill>
            </a:endParaRPr>
          </a:p>
        </p:txBody>
      </p:sp>
      <p:sp>
        <p:nvSpPr>
          <p:cNvPr id="9" name="Subtitle 8"/>
          <p:cNvSpPr>
            <a:spLocks noGrp="1"/>
          </p:cNvSpPr>
          <p:nvPr>
            <p:ph type="subTitle" idx="1"/>
          </p:nvPr>
        </p:nvSpPr>
        <p:spPr>
          <a:xfrm>
            <a:off x="1828800" y="3331698"/>
            <a:ext cx="85344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33600" y="609600"/>
            <a:ext cx="94488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133600" y="2507786"/>
            <a:ext cx="94488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p>
            <a:endParaRPr lang="en-US" sz="2400" b="0" strike="noStrike" spc="-1">
              <a:latin typeface="Times New Roman"/>
            </a:endParaRPr>
          </a:p>
        </p:txBody>
      </p:sp>
      <p:sp>
        <p:nvSpPr>
          <p:cNvPr id="6" name="Slide Number Placeholder 5"/>
          <p:cNvSpPr>
            <a:spLocks noGrp="1"/>
          </p:cNvSpPr>
          <p:nvPr>
            <p:ph type="sldNum" sz="quarter" idx="12"/>
          </p:nvPr>
        </p:nvSpPr>
        <p:spPr>
          <a:xfrm>
            <a:off x="10566400" y="6416676"/>
            <a:ext cx="1016000" cy="365125"/>
          </a:xfrm>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6" name="Footer Placeholder 5"/>
          <p:cNvSpPr>
            <a:spLocks noGrp="1"/>
          </p:cNvSpPr>
          <p:nvPr>
            <p:ph type="ftr" sz="quarter" idx="11"/>
          </p:nvPr>
        </p:nvSpPr>
        <p:spPr/>
        <p:txBody>
          <a:bodyPr/>
          <a:lstStyle/>
          <a:p>
            <a:endParaRPr lang="en-US" sz="2400" b="0" strike="noStrike" spc="-1">
              <a:latin typeface="Times New Roman"/>
            </a:endParaRPr>
          </a:p>
        </p:txBody>
      </p:sp>
      <p:sp>
        <p:nvSpPr>
          <p:cNvPr id="7" name="Slide Number Placeholder 6"/>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1535113"/>
            <a:ext cx="5386917"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8" y="1535113"/>
            <a:ext cx="5389033"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2362201"/>
            <a:ext cx="5386917"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2362201"/>
            <a:ext cx="5389033"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8" name="Footer Placeholder 7"/>
          <p:cNvSpPr>
            <a:spLocks noGrp="1"/>
          </p:cNvSpPr>
          <p:nvPr>
            <p:ph type="ftr" sz="quarter" idx="11"/>
          </p:nvPr>
        </p:nvSpPr>
        <p:spPr/>
        <p:txBody>
          <a:bodyPr/>
          <a:lstStyle/>
          <a:p>
            <a:endParaRPr lang="en-US" sz="2400" b="0" strike="noStrike" spc="-1">
              <a:latin typeface="Times New Roman"/>
            </a:endParaRPr>
          </a:p>
        </p:txBody>
      </p:sp>
      <p:sp>
        <p:nvSpPr>
          <p:cNvPr id="9" name="Slide Number Placeholder 8"/>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D21D778-B565-4D7E-94D7-64010A445B68}" type="datetimeFigureOut">
              <a:rPr lang="en-US" smtClean="0"/>
              <a:pPr/>
              <a:t>10/30/2017</a:t>
            </a:fld>
            <a:endParaRPr lang="en-US"/>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3" name="Footer Placeholder 2"/>
          <p:cNvSpPr>
            <a:spLocks noGrp="1"/>
          </p:cNvSpPr>
          <p:nvPr>
            <p:ph type="ftr" sz="quarter" idx="11"/>
          </p:nvPr>
        </p:nvSpPr>
        <p:spPr/>
        <p:txBody>
          <a:bodyPr/>
          <a:lstStyle/>
          <a:p>
            <a:endParaRPr lang="en-US" sz="2400" b="0" strike="noStrike" spc="-1">
              <a:latin typeface="Times New Roman"/>
            </a:endParaRPr>
          </a:p>
        </p:txBody>
      </p:sp>
      <p:sp>
        <p:nvSpPr>
          <p:cNvPr id="4" name="Slide Number Placeholder 3"/>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09601" y="1524001"/>
            <a:ext cx="4011084"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766733" y="273051"/>
            <a:ext cx="6815667"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6" name="Footer Placeholder 5"/>
          <p:cNvSpPr>
            <a:spLocks noGrp="1"/>
          </p:cNvSpPr>
          <p:nvPr>
            <p:ph type="ftr" sz="quarter" idx="11"/>
          </p:nvPr>
        </p:nvSpPr>
        <p:spPr/>
        <p:txBody>
          <a:bodyPr/>
          <a:lstStyle/>
          <a:p>
            <a:endParaRPr lang="en-US" sz="2400" b="0" strike="noStrike" spc="-1">
              <a:latin typeface="Times New Roman"/>
            </a:endParaRPr>
          </a:p>
        </p:txBody>
      </p:sp>
      <p:sp>
        <p:nvSpPr>
          <p:cNvPr id="7" name="Slide Number Placeholder 6"/>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38400" y="609600"/>
            <a:ext cx="73152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2438400" y="1831975"/>
            <a:ext cx="73152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2438400" y="1166787"/>
            <a:ext cx="73152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6" name="Footer Placeholder 5"/>
          <p:cNvSpPr>
            <a:spLocks noGrp="1"/>
          </p:cNvSpPr>
          <p:nvPr>
            <p:ph type="ftr" sz="quarter" idx="11"/>
          </p:nvPr>
        </p:nvSpPr>
        <p:spPr/>
        <p:txBody>
          <a:bodyPr/>
          <a:lstStyle/>
          <a:p>
            <a:endParaRPr lang="en-US" sz="2400" b="0" strike="noStrike" spc="-1">
              <a:latin typeface="Times New Roman"/>
            </a:endParaRPr>
          </a:p>
        </p:txBody>
      </p:sp>
      <p:sp>
        <p:nvSpPr>
          <p:cNvPr id="7" name="Slide Number Placeholder 6"/>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10080" y="359898"/>
            <a:ext cx="987552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910080" y="1850064"/>
            <a:ext cx="987552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9D21D778-B565-4D7E-94D7-64010A445B68}" type="datetimeFigureOut">
              <a:rPr lang="en-US" smtClean="0"/>
              <a:pPr/>
              <a:t>10/30/2017</a:t>
            </a:fld>
            <a:endParaRPr lang="en-US"/>
          </a:p>
        </p:txBody>
      </p:sp>
      <p:sp>
        <p:nvSpPr>
          <p:cNvPr id="20" name="Footer Placeholder 19"/>
          <p:cNvSpPr>
            <a:spLocks noGrp="1"/>
          </p:cNvSpPr>
          <p:nvPr>
            <p:ph type="ftr" sz="quarter" idx="11"/>
          </p:nvPr>
        </p:nvSpPr>
        <p:spPr/>
        <p:txBody>
          <a:bodyPr/>
          <a:lstStyle>
            <a:extLst/>
          </a:lstStyle>
          <a:p>
            <a:endParaRPr kumimoji="0" lang="en-US"/>
          </a:p>
        </p:txBody>
      </p:sp>
      <p:sp>
        <p:nvSpPr>
          <p:cNvPr id="10" name="Slide Number Placeholder 9"/>
          <p:cNvSpPr>
            <a:spLocks noGrp="1"/>
          </p:cNvSpPr>
          <p:nvPr>
            <p:ph type="sldNum" sz="quarter" idx="12"/>
          </p:nvPr>
        </p:nvSpPr>
        <p:spPr/>
        <p:txBody>
          <a:bodyPr/>
          <a:lstStyle>
            <a:extLst/>
          </a:lstStyle>
          <a:p>
            <a:fld id="{2C6B1FF6-39B9-40F5-8B67-33C6354A3D4F}" type="slidenum">
              <a:rPr kumimoji="0" lang="en-US" smtClean="0"/>
              <a:pPr/>
              <a:t>‹#›</a:t>
            </a:fld>
            <a:endParaRPr kumimoji="0" lang="en-US" dirty="0">
              <a:solidFill>
                <a:schemeClr val="accent3">
                  <a:shade val="75000"/>
                </a:schemeClr>
              </a:solidFill>
            </a:endParaRPr>
          </a:p>
        </p:txBody>
      </p:sp>
      <p:sp>
        <p:nvSpPr>
          <p:cNvPr id="8" name="Oval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extLst/>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3437856" y="2600325"/>
            <a:ext cx="85344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437856" y="1066800"/>
            <a:ext cx="85344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extLst/>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
        <p:nvSpPr>
          <p:cNvPr id="10" name="Rectangle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6" name="Footer Placeholder 5"/>
          <p:cNvSpPr>
            <a:spLocks noGrp="1"/>
          </p:cNvSpPr>
          <p:nvPr>
            <p:ph type="ftr" sz="quarter" idx="11"/>
          </p:nvPr>
        </p:nvSpPr>
        <p:spPr/>
        <p:txBody>
          <a:bodyPr/>
          <a:lstStyle>
            <a:extLst/>
          </a:lstStyle>
          <a:p>
            <a:endParaRPr lang="en-US" sz="2400" b="0" strike="noStrike" spc="-1">
              <a:latin typeface="Times New Roman"/>
            </a:endParaRPr>
          </a:p>
        </p:txBody>
      </p:sp>
      <p:sp>
        <p:nvSpPr>
          <p:cNvPr id="7" name="Slide Number Placeholder 6"/>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21792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8" name="Footer Placeholder 7"/>
          <p:cNvSpPr>
            <a:spLocks noGrp="1"/>
          </p:cNvSpPr>
          <p:nvPr>
            <p:ph type="ftr" sz="quarter" idx="11"/>
          </p:nvPr>
        </p:nvSpPr>
        <p:spPr/>
        <p:txBody>
          <a:bodyPr/>
          <a:lstStyle>
            <a:extLst/>
          </a:lstStyle>
          <a:p>
            <a:endParaRPr lang="en-US" sz="2400" b="0" strike="noStrike" spc="-1">
              <a:latin typeface="Times New Roman"/>
            </a:endParaRPr>
          </a:p>
        </p:txBody>
      </p:sp>
      <p:sp>
        <p:nvSpPr>
          <p:cNvPr id="9" name="Slide Number Placeholder 8"/>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9D21D778-B565-4D7E-94D7-64010A445B68}" type="datetimeFigureOut">
              <a:rPr lang="en-US" smtClean="0"/>
              <a:pPr/>
              <a:t>10/30/2017</a:t>
            </a:fld>
            <a:endParaRPr lang="en-US"/>
          </a:p>
        </p:txBody>
      </p:sp>
      <p:sp>
        <p:nvSpPr>
          <p:cNvPr id="4" name="Footer Placeholder 3"/>
          <p:cNvSpPr>
            <a:spLocks noGrp="1"/>
          </p:cNvSpPr>
          <p:nvPr>
            <p:ph type="ftr" sz="quarter" idx="11"/>
          </p:nvPr>
        </p:nvSpPr>
        <p:spPr/>
        <p:txBody>
          <a:bodyPr/>
          <a:lstStyle>
            <a:extLst/>
          </a:lstStyle>
          <a:p>
            <a:endParaRPr kumimoji="0" lang="en-US" dirty="0"/>
          </a:p>
        </p:txBody>
      </p:sp>
      <p:sp>
        <p:nvSpPr>
          <p:cNvPr id="5" name="Slide Number Placeholder 4"/>
          <p:cNvSpPr>
            <a:spLocks noGrp="1"/>
          </p:cNvSpPr>
          <p:nvPr>
            <p:ph type="sldNum" sz="quarter" idx="12"/>
          </p:nvPr>
        </p:nvSpPr>
        <p:spPr/>
        <p:txBody>
          <a:bodyPr/>
          <a:lstStyle>
            <a:extLst/>
          </a:lstStyle>
          <a:p>
            <a:fld id="{2C6B1FF6-39B9-40F5-8B67-33C6354A3D4F}" type="slidenum">
              <a:rPr kumimoji="0" lang="en-US" smtClean="0"/>
              <a:pPr/>
              <a:t>‹#›</a:t>
            </a:fld>
            <a:endParaRPr kumimoji="0"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3" name="Footer Placeholder 2"/>
          <p:cNvSpPr>
            <a:spLocks noGrp="1"/>
          </p:cNvSpPr>
          <p:nvPr>
            <p:ph type="ftr" sz="quarter" idx="11"/>
          </p:nvPr>
        </p:nvSpPr>
        <p:spPr/>
        <p:txBody>
          <a:bodyPr/>
          <a:lstStyle>
            <a:extLst/>
          </a:lstStyle>
          <a:p>
            <a:endParaRPr lang="en-US" sz="2400" b="0" strike="noStrike" spc="-1">
              <a:latin typeface="Times New Roman"/>
            </a:endParaRPr>
          </a:p>
        </p:txBody>
      </p:sp>
      <p:sp>
        <p:nvSpPr>
          <p:cNvPr id="4" name="Slide Number Placeholder 3"/>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
        <p:nvSpPr>
          <p:cNvPr id="6" name="Rectangle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609600" y="2133601"/>
            <a:ext cx="108712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6" name="Footer Placeholder 5"/>
          <p:cNvSpPr>
            <a:spLocks noGrp="1"/>
          </p:cNvSpPr>
          <p:nvPr>
            <p:ph type="ftr" sz="quarter" idx="11"/>
          </p:nvPr>
        </p:nvSpPr>
        <p:spPr/>
        <p:txBody>
          <a:bodyPr/>
          <a:lstStyle>
            <a:extLst/>
          </a:lstStyle>
          <a:p>
            <a:endParaRPr lang="en-US" sz="2400" b="0" strike="noStrike" spc="-1">
              <a:latin typeface="Times New Roman"/>
            </a:endParaRPr>
          </a:p>
        </p:txBody>
      </p:sp>
      <p:sp>
        <p:nvSpPr>
          <p:cNvPr id="7" name="Slide Number Placeholder 6"/>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6" name="Footer Placeholder 5"/>
          <p:cNvSpPr>
            <a:spLocks noGrp="1"/>
          </p:cNvSpPr>
          <p:nvPr>
            <p:ph type="ftr" sz="quarter" idx="11"/>
          </p:nvPr>
        </p:nvSpPr>
        <p:spPr/>
        <p:txBody>
          <a:bodyPr/>
          <a:lstStyle>
            <a:extLst/>
          </a:lstStyle>
          <a:p>
            <a:endParaRPr lang="en-US" sz="2400" b="0" strike="noStrike" spc="-1">
              <a:latin typeface="Times New Roman"/>
            </a:endParaRPr>
          </a:p>
        </p:txBody>
      </p:sp>
      <p:sp>
        <p:nvSpPr>
          <p:cNvPr id="7" name="Slide Number Placeholder 6"/>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extLst/>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274640"/>
            <a:ext cx="24384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524000" y="274641"/>
            <a:ext cx="7416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extLst/>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09600" y="1600200"/>
            <a:ext cx="109728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 y="6416676"/>
            <a:ext cx="2844800" cy="365125"/>
          </a:xfrm>
          <a:prstGeom prst="rect">
            <a:avLst/>
          </a:prstGeom>
        </p:spPr>
        <p:txBody>
          <a:bodyPr vert="horz" anchor="b"/>
          <a:lstStyle>
            <a:lvl1pPr algn="l" eaLnBrk="1" latinLnBrk="0" hangingPunct="1">
              <a:defRPr kumimoji="0" sz="1200">
                <a:solidFill>
                  <a:schemeClr val="tx1">
                    <a:shade val="50000"/>
                  </a:schemeClr>
                </a:solidFill>
              </a:defRPr>
            </a:lvl1p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3" name="Footer Placeholder 2"/>
          <p:cNvSpPr>
            <a:spLocks noGrp="1"/>
          </p:cNvSpPr>
          <p:nvPr>
            <p:ph type="ftr" sz="quarter" idx="3"/>
          </p:nvPr>
        </p:nvSpPr>
        <p:spPr>
          <a:xfrm>
            <a:off x="4165600" y="6416676"/>
            <a:ext cx="38608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sz="2400" b="0" strike="noStrike" spc="-1">
              <a:latin typeface="Times New Roman"/>
            </a:endParaRPr>
          </a:p>
        </p:txBody>
      </p:sp>
      <p:sp>
        <p:nvSpPr>
          <p:cNvPr id="23" name="Slide Number Placeholder 22"/>
          <p:cNvSpPr>
            <a:spLocks noGrp="1"/>
          </p:cNvSpPr>
          <p:nvPr>
            <p:ph type="sldNum" sz="quarter" idx="4"/>
          </p:nvPr>
        </p:nvSpPr>
        <p:spPr>
          <a:xfrm>
            <a:off x="10566400" y="6416676"/>
            <a:ext cx="1016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 bg1="dk1" tx1="lt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914144" y="274638"/>
            <a:ext cx="999744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914144" y="1447800"/>
            <a:ext cx="999744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sz="2400" b="0" strike="noStrike" spc="-1">
              <a:latin typeface="Times New Roman"/>
            </a:endParaRPr>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
        <p:nvSpPr>
          <p:cNvPr id="15" name="Rectangle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82" name="TextShape 1"/>
          <p:cNvSpPr txBox="1"/>
          <p:nvPr/>
        </p:nvSpPr>
        <p:spPr>
          <a:xfrm>
            <a:off x="914400" y="3125880"/>
            <a:ext cx="7570080" cy="3125520"/>
          </a:xfrm>
          <a:prstGeom prst="rect">
            <a:avLst/>
          </a:prstGeom>
          <a:noFill/>
          <a:ln>
            <a:noFill/>
          </a:ln>
        </p:spPr>
        <p:txBody>
          <a:bodyPr>
            <a:normAutofit fontScale="40000" lnSpcReduction="20000"/>
          </a:bodyPr>
          <a:lstStyle/>
          <a:p>
            <a:pPr algn="ctr">
              <a:spcBef>
                <a:spcPts val="1001"/>
              </a:spcBef>
            </a:pPr>
            <a:r>
              <a:rPr lang="en-US" sz="6500" b="1" u="sng" strike="noStrike" spc="-1" dirty="0" smtClean="0">
                <a:solidFill>
                  <a:srgbClr val="000000"/>
                </a:solidFill>
                <a:latin typeface="Calibri"/>
              </a:rPr>
              <a:t>“</a:t>
            </a:r>
            <a:r>
              <a:rPr lang="en-US" sz="6500" b="1" u="sng" dirty="0" smtClean="0">
                <a:solidFill>
                  <a:schemeClr val="bg1"/>
                </a:solidFill>
              </a:rPr>
              <a:t>RECENT CYBER ATTACKS</a:t>
            </a:r>
            <a:r>
              <a:rPr lang="en-US" sz="6500" b="1" u="sng" strike="noStrike" spc="-1" dirty="0" smtClean="0">
                <a:solidFill>
                  <a:srgbClr val="000000"/>
                </a:solidFill>
                <a:latin typeface="Calibri"/>
              </a:rPr>
              <a:t>”</a:t>
            </a:r>
          </a:p>
          <a:p>
            <a:pPr algn="ctr">
              <a:spcBef>
                <a:spcPts val="1001"/>
              </a:spcBef>
            </a:pPr>
            <a:endParaRPr lang="en-US" sz="3600" b="1" u="sng" dirty="0" smtClean="0"/>
          </a:p>
          <a:p>
            <a:pPr algn="ctr">
              <a:spcBef>
                <a:spcPts val="1001"/>
              </a:spcBef>
            </a:pPr>
            <a:r>
              <a:rPr lang="en-US" sz="5800" b="1" u="sng" dirty="0" smtClean="0">
                <a:solidFill>
                  <a:srgbClr val="FFFF00"/>
                </a:solidFill>
              </a:rPr>
              <a:t>German </a:t>
            </a:r>
            <a:r>
              <a:rPr lang="en-US" sz="5800" b="1" u="sng" dirty="0" smtClean="0">
                <a:solidFill>
                  <a:srgbClr val="FFFF00"/>
                </a:solidFill>
              </a:rPr>
              <a:t>and French elections Cyber Attacks (2016–2017)</a:t>
            </a:r>
            <a:endParaRPr lang="en-US" sz="5800" dirty="0" smtClean="0">
              <a:solidFill>
                <a:srgbClr val="FFFF00"/>
              </a:solidFill>
            </a:endParaRPr>
          </a:p>
          <a:p>
            <a:pPr algn="ctr">
              <a:lnSpc>
                <a:spcPct val="100000"/>
              </a:lnSpc>
              <a:spcBef>
                <a:spcPts val="1001"/>
              </a:spcBef>
            </a:pPr>
            <a:endParaRPr lang="en-US" sz="3600" b="0" u="sng" strike="noStrike" spc="-1" dirty="0">
              <a:latin typeface="Arial"/>
            </a:endParaRPr>
          </a:p>
          <a:p>
            <a:pPr algn="ctr"/>
            <a:endParaRPr lang="en-US" sz="2800" b="0" u="sng" strike="noStrike" spc="-1" dirty="0">
              <a:latin typeface="Arial"/>
            </a:endParaRPr>
          </a:p>
          <a:p>
            <a:pPr algn="ctr">
              <a:lnSpc>
                <a:spcPct val="100000"/>
              </a:lnSpc>
              <a:spcBef>
                <a:spcPts val="1001"/>
              </a:spcBef>
            </a:pPr>
            <a:r>
              <a:rPr lang="en-US" sz="7600" b="0" u="sng" strike="noStrike" spc="-1" dirty="0">
                <a:solidFill>
                  <a:srgbClr val="000000"/>
                </a:solidFill>
                <a:latin typeface="Calibri"/>
              </a:rPr>
              <a:t>17MCS13 </a:t>
            </a:r>
            <a:endParaRPr lang="en-US" sz="7600" b="0" u="sng" strike="noStrike" spc="-1" dirty="0">
              <a:latin typeface="Arial"/>
            </a:endParaRPr>
          </a:p>
          <a:p>
            <a:pPr algn="ctr">
              <a:lnSpc>
                <a:spcPct val="100000"/>
              </a:lnSpc>
              <a:spcBef>
                <a:spcPts val="1001"/>
              </a:spcBef>
            </a:pPr>
            <a:r>
              <a:rPr lang="en-US" sz="7600" b="0" u="sng" strike="noStrike" spc="-1" dirty="0">
                <a:solidFill>
                  <a:srgbClr val="FFFFFF"/>
                </a:solidFill>
                <a:latin typeface="Calibri"/>
              </a:rPr>
              <a:t>SUNIL KUMAR VERMA</a:t>
            </a:r>
            <a:endParaRPr lang="en-US" sz="7600" b="0" u="sng" strike="noStrike" spc="-1" dirty="0">
              <a:latin typeface="Arial"/>
            </a:endParaRPr>
          </a:p>
        </p:txBody>
      </p:sp>
      <p:sp>
        <p:nvSpPr>
          <p:cNvPr id="83" name="CustomShape 2"/>
          <p:cNvSpPr/>
          <p:nvPr/>
        </p:nvSpPr>
        <p:spPr>
          <a:xfrm>
            <a:off x="8499960" y="6519600"/>
            <a:ext cx="3511080" cy="669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000" b="1" strike="noStrike" cap="all" spc="-1" dirty="0">
                <a:solidFill>
                  <a:srgbClr val="000000"/>
                </a:solidFill>
                <a:latin typeface="Calibri"/>
              </a:rPr>
              <a:t>CENTRE FOR ADVANCE STUDIES</a:t>
            </a:r>
            <a:endParaRPr lang="en-US" sz="2000" b="0" strike="noStrike" spc="-1" dirty="0">
              <a:latin typeface="Arial"/>
            </a:endParaRPr>
          </a:p>
          <a:p>
            <a:pPr>
              <a:lnSpc>
                <a:spcPct val="100000"/>
              </a:lnSpc>
            </a:pPr>
            <a:endParaRPr lang="en-US" sz="2000" b="0" strike="noStrike" spc="-1" dirty="0">
              <a:latin typeface="Arial"/>
            </a:endParaRPr>
          </a:p>
        </p:txBody>
      </p:sp>
      <p:pic>
        <p:nvPicPr>
          <p:cNvPr id="1027" name="Picture 1" descr="C:\Users\sunil\Downloads\APT28_APT29_Techniques_-_Malware.png"/>
          <p:cNvPicPr>
            <a:picLocks noChangeAspect="1" noChangeArrowheads="1"/>
          </p:cNvPicPr>
          <p:nvPr/>
        </p:nvPicPr>
        <p:blipFill>
          <a:blip r:embed="rId3"/>
          <a:srcRect/>
          <a:stretch>
            <a:fillRect/>
          </a:stretch>
        </p:blipFill>
        <p:spPr bwMode="auto">
          <a:xfrm>
            <a:off x="0" y="0"/>
            <a:ext cx="12192000" cy="2971800"/>
          </a:xfrm>
          <a:prstGeom prst="rect">
            <a:avLst/>
          </a:prstGeom>
          <a:noFill/>
          <a:ln w="9525">
            <a:noFill/>
            <a:miter lim="800000"/>
            <a:headEnd/>
            <a:tailEnd/>
          </a:ln>
        </p:spPr>
      </p:pic>
    </p:spTree>
  </p:cSld>
  <p:clrMapOvr>
    <a:masterClrMapping/>
  </p:clrMapOvr>
  <p:transition/>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7" name="Title 6"/>
          <p:cNvSpPr>
            <a:spLocks noGrp="1"/>
          </p:cNvSpPr>
          <p:nvPr>
            <p:ph type="ctrTitle"/>
          </p:nvPr>
        </p:nvSpPr>
        <p:spPr>
          <a:xfrm>
            <a:off x="562707" y="609600"/>
            <a:ext cx="10972800" cy="1371600"/>
          </a:xfrm>
        </p:spPr>
        <p:txBody>
          <a:bodyPr>
            <a:normAutofit/>
          </a:bodyPr>
          <a:lstStyle/>
          <a:p>
            <a:pPr algn="ctr"/>
            <a:r>
              <a:rPr lang="en-US" sz="5400" u="sng" dirty="0" smtClean="0"/>
              <a:t>“</a:t>
            </a:r>
            <a:r>
              <a:rPr lang="en-US" sz="5400" b="1" u="sng" dirty="0" smtClean="0"/>
              <a:t>INTRODUCTION</a:t>
            </a:r>
            <a:r>
              <a:rPr lang="en-US" sz="5400" u="sng" dirty="0" smtClean="0"/>
              <a:t>”</a:t>
            </a:r>
            <a:endParaRPr lang="en-US" sz="5400" u="sng" dirty="0"/>
          </a:p>
        </p:txBody>
      </p:sp>
      <p:sp>
        <p:nvSpPr>
          <p:cNvPr id="8" name="Subtitle 7"/>
          <p:cNvSpPr>
            <a:spLocks noGrp="1"/>
          </p:cNvSpPr>
          <p:nvPr>
            <p:ph type="subTitle" idx="1"/>
          </p:nvPr>
        </p:nvSpPr>
        <p:spPr>
          <a:xfrm>
            <a:off x="1524000" y="2209800"/>
            <a:ext cx="10058400" cy="3733800"/>
          </a:xfrm>
        </p:spPr>
        <p:txBody>
          <a:bodyPr>
            <a:normAutofit/>
          </a:bodyPr>
          <a:lstStyle/>
          <a:p>
            <a:endParaRPr lang="en-US" dirty="0" smtClean="0"/>
          </a:p>
          <a:p>
            <a:r>
              <a:rPr lang="en-US" dirty="0" smtClean="0"/>
              <a:t>Researchers </a:t>
            </a:r>
            <a:r>
              <a:rPr lang="en-US" dirty="0" smtClean="0"/>
              <a:t>from Trend Micro in 2017 released a report outlining attempts by Fancy Bear to target groups related to the election campaigns of Emmanuel Macron and Angela Merkel. According to the report, they targeted the Macron campaign with </a:t>
            </a:r>
            <a:r>
              <a:rPr lang="en-US" b="1" i="1" u="sng" dirty="0" smtClean="0"/>
              <a:t>phishing and attempting to install malware on their site.</a:t>
            </a:r>
            <a:endParaRPr lang="en-US" dirty="0" smtClean="0"/>
          </a:p>
          <a:p>
            <a:endParaRPr lang="en-US"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p:txBody>
          <a:bodyPr>
            <a:normAutofit/>
          </a:bodyPr>
          <a:lstStyle/>
          <a:p>
            <a:pPr algn="ctr"/>
            <a:r>
              <a:rPr lang="en-US" sz="4800" b="1" u="sng" dirty="0" smtClean="0"/>
              <a:t>FIRST DISCOVERED</a:t>
            </a:r>
            <a:endParaRPr lang="en-US" sz="4800" dirty="0"/>
          </a:p>
        </p:txBody>
      </p:sp>
      <p:sp>
        <p:nvSpPr>
          <p:cNvPr id="6" name="Subtitle 5"/>
          <p:cNvSpPr>
            <a:spLocks noGrp="1"/>
          </p:cNvSpPr>
          <p:nvPr>
            <p:ph type="subTitle" idx="1"/>
          </p:nvPr>
        </p:nvSpPr>
        <p:spPr>
          <a:xfrm>
            <a:off x="1910080" y="1850064"/>
            <a:ext cx="9875520" cy="4245936"/>
          </a:xfrm>
        </p:spPr>
        <p:txBody>
          <a:bodyPr>
            <a:normAutofit lnSpcReduction="10000"/>
          </a:bodyPr>
          <a:lstStyle/>
          <a:p>
            <a:r>
              <a:rPr lang="en-US" dirty="0" smtClean="0"/>
              <a:t>A phishing technique was described in detail in a paper and presentation delivered to the 1987 International HP Users Group, </a:t>
            </a:r>
            <a:r>
              <a:rPr lang="en-US" dirty="0" err="1" smtClean="0"/>
              <a:t>Interex</a:t>
            </a:r>
            <a:r>
              <a:rPr lang="en-US" dirty="0" smtClean="0"/>
              <a:t>.</a:t>
            </a:r>
          </a:p>
          <a:p>
            <a:r>
              <a:rPr lang="en-US" dirty="0" smtClean="0"/>
              <a:t>The term 'phishing' is said to have been coined by the well known spammer and hacker in the mid-90s, Khan C Smith. The first recorded mention of the term is found in the hacking tool named </a:t>
            </a:r>
            <a:r>
              <a:rPr lang="en-US" dirty="0" err="1" smtClean="0"/>
              <a:t>AOHell</a:t>
            </a:r>
            <a:r>
              <a:rPr lang="en-US" dirty="0" smtClean="0"/>
              <a:t> (according to its creator), which included a function for attempting to steal the passwords or financial details of America Online users.</a:t>
            </a:r>
          </a:p>
          <a:p>
            <a:r>
              <a:rPr lang="en-US" dirty="0" smtClean="0"/>
              <a:t>The first Malware(computer virus) was called Elk Cloner and was found on a Mac in 1982. January of 2011 saw the very first PC-based malware turn 25 - named Brian.</a:t>
            </a:r>
          </a:p>
          <a:p>
            <a:endParaRPr lang="en-US"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a:xfrm>
            <a:off x="1910080" y="359898"/>
            <a:ext cx="9875520" cy="1164102"/>
          </a:xfrm>
        </p:spPr>
        <p:txBody>
          <a:bodyPr/>
          <a:lstStyle/>
          <a:p>
            <a:pPr algn="ctr"/>
            <a:r>
              <a:rPr lang="en-US" b="1" u="sng" dirty="0" smtClean="0"/>
              <a:t>TECHNIQUES OF ATTACK</a:t>
            </a:r>
            <a:endParaRPr lang="en-US" dirty="0"/>
          </a:p>
        </p:txBody>
      </p:sp>
      <p:sp>
        <p:nvSpPr>
          <p:cNvPr id="6" name="Subtitle 5"/>
          <p:cNvSpPr>
            <a:spLocks noGrp="1"/>
          </p:cNvSpPr>
          <p:nvPr>
            <p:ph type="subTitle" idx="1"/>
          </p:nvPr>
        </p:nvSpPr>
        <p:spPr>
          <a:xfrm>
            <a:off x="1910080" y="1850064"/>
            <a:ext cx="9875520" cy="4245936"/>
          </a:xfrm>
        </p:spPr>
        <p:txBody>
          <a:bodyPr>
            <a:normAutofit fontScale="70000" lnSpcReduction="20000"/>
          </a:bodyPr>
          <a:lstStyle/>
          <a:p>
            <a:r>
              <a:rPr lang="en-US" dirty="0" smtClean="0"/>
              <a:t>Fancy Bear employs advanced methods consistent with the capabilities of nation-state actors. They use </a:t>
            </a:r>
          </a:p>
          <a:p>
            <a:pPr lvl="0"/>
            <a:r>
              <a:rPr lang="en-US" dirty="0" smtClean="0"/>
              <a:t>  Spear phishing Emails,</a:t>
            </a:r>
          </a:p>
          <a:p>
            <a:pPr lvl="0"/>
            <a:r>
              <a:rPr lang="en-US" dirty="0" smtClean="0"/>
              <a:t>  Malware drop websites disguised as news sources, and</a:t>
            </a:r>
          </a:p>
          <a:p>
            <a:pPr lvl="0"/>
            <a:r>
              <a:rPr lang="en-US" dirty="0" smtClean="0"/>
              <a:t> Zero-day vulnerabilities.</a:t>
            </a:r>
          </a:p>
          <a:p>
            <a:r>
              <a:rPr lang="en-US" dirty="0" smtClean="0"/>
              <a:t>One of Fancy Bear's preferred targets is web-based email services. A typical compromise will consist of web-based email users receiving an email urgently requesting that they change their passwords to avoid being hacked. The email will contain a link to a spoof website that is designed to mimic a real webmail interface, users will attempt to login and their credentials will be stolen. The URL is often obscured as a shortened </a:t>
            </a:r>
            <a:r>
              <a:rPr lang="en-US" dirty="0" err="1" smtClean="0"/>
              <a:t>bitly</a:t>
            </a:r>
            <a:r>
              <a:rPr lang="en-US" dirty="0" smtClean="0"/>
              <a:t> link. They also send emails purportedly containing links to news items, but instead linking to malware drop sites that install toolkits onto the target's computer. Fancy Bear also registers domains that resemble legitimate websites, then create a spoof of the site to steal credentials from their victims. Fancy Bear has been known to relay its command traffic through proxy networks of victims that it has previously compromised. They also send emails purportedly containing links to news items, but instead linking to malware drop sites that install toolkits onto the target's computer. Fancy Bear also registers domains that resemble legitimate websites, then create a spoof of the site to steal credentials from their victims. Fancy Bear has been known to relay its command traffic through proxy networks of victims that it has previously compromised</a:t>
            </a:r>
          </a:p>
          <a:p>
            <a:endParaRPr lang="en-US" dirty="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dirty="0"/>
          </a:p>
        </p:txBody>
      </p:sp>
      <p:sp>
        <p:nvSpPr>
          <p:cNvPr id="8" name="Text Placeholder 7"/>
          <p:cNvSpPr>
            <a:spLocks noGrp="1"/>
          </p:cNvSpPr>
          <p:nvPr>
            <p:ph type="body" sz="half" idx="2"/>
          </p:nvPr>
        </p:nvSpPr>
        <p:spPr/>
        <p:txBody>
          <a:bodyPr/>
          <a:lstStyle/>
          <a:p>
            <a:endParaRPr lang="en-US"/>
          </a:p>
        </p:txBody>
      </p:sp>
      <p:pic>
        <p:nvPicPr>
          <p:cNvPr id="26626" name="Picture 1" descr="C:\Users\sunil\Downloads\APT28_APT29_Techniques_-_Malware.png"/>
          <p:cNvPicPr>
            <a:picLocks noGrp="1" noChangeAspect="1" noChangeArrowheads="1"/>
          </p:cNvPicPr>
          <p:nvPr>
            <p:ph type="pic" idx="1"/>
          </p:nvPr>
        </p:nvPicPr>
        <p:blipFill>
          <a:blip r:embed="rId2"/>
          <a:srcRect l="2842" r="2842"/>
          <a:stretch>
            <a:fillRect/>
          </a:stretch>
        </p:blipFill>
        <p:spPr bwMode="auto">
          <a:xfrm>
            <a:off x="685800" y="457200"/>
            <a:ext cx="10515600" cy="5791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p:txBody>
          <a:bodyPr>
            <a:normAutofit/>
          </a:bodyPr>
          <a:lstStyle/>
          <a:p>
            <a:pPr algn="ctr"/>
            <a:r>
              <a:rPr lang="en-US" sz="5400" b="1" u="sng" dirty="0" smtClean="0"/>
              <a:t>Spear </a:t>
            </a:r>
            <a:r>
              <a:rPr lang="en-US" sz="5400" b="1" u="sng" dirty="0" smtClean="0"/>
              <a:t>phishing</a:t>
            </a:r>
            <a:r>
              <a:rPr lang="en-US" sz="3600" b="1" i="1" dirty="0" smtClean="0"/>
              <a:t/>
            </a:r>
            <a:br>
              <a:rPr lang="en-US" sz="3600" b="1" i="1" dirty="0" smtClean="0"/>
            </a:br>
            <a:endParaRPr lang="en-US" sz="3600" dirty="0">
              <a:solidFill>
                <a:schemeClr val="accent3"/>
              </a:solidFill>
            </a:endParaRPr>
          </a:p>
        </p:txBody>
      </p:sp>
      <p:sp>
        <p:nvSpPr>
          <p:cNvPr id="6" name="Subtitle 5"/>
          <p:cNvSpPr>
            <a:spLocks noGrp="1"/>
          </p:cNvSpPr>
          <p:nvPr>
            <p:ph type="subTitle" idx="1"/>
          </p:nvPr>
        </p:nvSpPr>
        <p:spPr>
          <a:xfrm>
            <a:off x="1910080" y="1850064"/>
            <a:ext cx="9875520" cy="4322136"/>
          </a:xfrm>
        </p:spPr>
        <p:txBody>
          <a:bodyPr>
            <a:normAutofit/>
          </a:bodyPr>
          <a:lstStyle/>
          <a:p>
            <a:endParaRPr lang="en-US" dirty="0" smtClean="0"/>
          </a:p>
          <a:p>
            <a:r>
              <a:rPr lang="en-US" dirty="0" smtClean="0"/>
              <a:t>Phishing </a:t>
            </a:r>
            <a:r>
              <a:rPr lang="en-US" dirty="0" smtClean="0"/>
              <a:t>attempts directed at specific individuals or companies have been termed </a:t>
            </a:r>
            <a:r>
              <a:rPr lang="en-US" b="1" dirty="0" smtClean="0"/>
              <a:t>Spear phishing</a:t>
            </a:r>
            <a:r>
              <a:rPr lang="en-US" dirty="0" smtClean="0"/>
              <a:t>. Attackers may gather personal information about their target to increase their probability of success. This technique is by far the most successful on the internet today, accounting for 91% of attacks.</a:t>
            </a:r>
          </a:p>
          <a:p>
            <a:endParaRPr lang="en-US" dirty="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p:txBody>
          <a:bodyPr>
            <a:normAutofit/>
          </a:bodyPr>
          <a:lstStyle/>
          <a:p>
            <a:pPr algn="ctr"/>
            <a:r>
              <a:rPr lang="en-US" sz="3600" b="1" u="sng" dirty="0" smtClean="0"/>
              <a:t>Zero-day </a:t>
            </a:r>
            <a:r>
              <a:rPr lang="en-US" sz="3600" b="1" u="sng" dirty="0" err="1" smtClean="0"/>
              <a:t>Velnerability</a:t>
            </a:r>
            <a:endParaRPr lang="en-US" sz="3600" b="1" dirty="0"/>
          </a:p>
        </p:txBody>
      </p:sp>
      <p:sp>
        <p:nvSpPr>
          <p:cNvPr id="6" name="Subtitle 5"/>
          <p:cNvSpPr>
            <a:spLocks noGrp="1"/>
          </p:cNvSpPr>
          <p:nvPr>
            <p:ph type="subTitle" idx="1"/>
          </p:nvPr>
        </p:nvSpPr>
        <p:spPr>
          <a:xfrm>
            <a:off x="1910080" y="1850064"/>
            <a:ext cx="9875520" cy="4550736"/>
          </a:xfrm>
        </p:spPr>
        <p:txBody>
          <a:bodyPr>
            <a:normAutofit/>
          </a:bodyPr>
          <a:lstStyle/>
          <a:p>
            <a:endParaRPr lang="en-US" dirty="0" smtClean="0"/>
          </a:p>
          <a:p>
            <a:r>
              <a:rPr lang="en-US" dirty="0" smtClean="0"/>
              <a:t>A </a:t>
            </a:r>
            <a:r>
              <a:rPr lang="en-US" b="1" dirty="0" smtClean="0"/>
              <a:t>zero-day</a:t>
            </a:r>
            <a:r>
              <a:rPr lang="en-US" dirty="0" smtClean="0"/>
              <a:t> (also known as </a:t>
            </a:r>
            <a:r>
              <a:rPr lang="en-US" b="1" dirty="0" smtClean="0"/>
              <a:t>zero-hour</a:t>
            </a:r>
            <a:r>
              <a:rPr lang="en-US" dirty="0" smtClean="0"/>
              <a:t> or </a:t>
            </a:r>
            <a:r>
              <a:rPr lang="en-US" b="1" dirty="0" smtClean="0"/>
              <a:t>0-day</a:t>
            </a:r>
            <a:r>
              <a:rPr lang="en-US" dirty="0" smtClean="0"/>
              <a:t> or </a:t>
            </a:r>
            <a:r>
              <a:rPr lang="en-US" b="1" dirty="0" smtClean="0"/>
              <a:t>day zero</a:t>
            </a:r>
            <a:r>
              <a:rPr lang="en-US" dirty="0" smtClean="0"/>
              <a:t>) vulnerability is a computer-software vulnerability that is unknown to those (including the vendor of the target software) who would be interested in mitigating the vulnerability. Until the vulnerability is mitigated, hackers can exploit it to adversely affect computer programs, data, additional computers or a network. An exploit directed at a zero-day vulnerability is called a </a:t>
            </a:r>
            <a:r>
              <a:rPr lang="en-US" b="1" dirty="0" smtClean="0"/>
              <a:t>zero-day exploit,</a:t>
            </a:r>
            <a:r>
              <a:rPr lang="en-US" dirty="0" smtClean="0"/>
              <a:t> or </a:t>
            </a:r>
            <a:r>
              <a:rPr lang="en-US" b="1" dirty="0" smtClean="0"/>
              <a:t>zero-day attack.</a:t>
            </a:r>
            <a:endParaRPr lang="en-US" dirty="0" smtClean="0"/>
          </a:p>
          <a:p>
            <a:endParaRPr lang="en-US"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p:txBody>
          <a:bodyPr>
            <a:normAutofit/>
          </a:bodyPr>
          <a:lstStyle/>
          <a:p>
            <a:pPr algn="ctr"/>
            <a:r>
              <a:rPr lang="en-US" sz="3600" b="1" u="sng" dirty="0" smtClean="0"/>
              <a:t>Techniques to defend</a:t>
            </a:r>
            <a:endParaRPr lang="en-US" sz="3600" dirty="0"/>
          </a:p>
        </p:txBody>
      </p:sp>
      <p:sp>
        <p:nvSpPr>
          <p:cNvPr id="6" name="Subtitle 5"/>
          <p:cNvSpPr>
            <a:spLocks noGrp="1"/>
          </p:cNvSpPr>
          <p:nvPr>
            <p:ph type="subTitle" idx="1"/>
          </p:nvPr>
        </p:nvSpPr>
        <p:spPr>
          <a:xfrm>
            <a:off x="1910080" y="1850064"/>
            <a:ext cx="9875520" cy="4474536"/>
          </a:xfrm>
        </p:spPr>
        <p:txBody>
          <a:bodyPr>
            <a:normAutofit/>
          </a:bodyPr>
          <a:lstStyle/>
          <a:p>
            <a:pPr lvl="0"/>
            <a:r>
              <a:rPr lang="en-US" b="1" dirty="0" smtClean="0"/>
              <a:t>Keep firewalls on </a:t>
            </a:r>
            <a:r>
              <a:rPr lang="en-US" b="1" dirty="0" smtClean="0"/>
              <a:t>.</a:t>
            </a:r>
            <a:endParaRPr lang="en-US" dirty="0" smtClean="0"/>
          </a:p>
          <a:p>
            <a:r>
              <a:rPr lang="en-US" b="1" dirty="0" smtClean="0"/>
              <a:t>Change </a:t>
            </a:r>
            <a:r>
              <a:rPr lang="en-US" b="1" dirty="0" smtClean="0"/>
              <a:t>your </a:t>
            </a:r>
            <a:r>
              <a:rPr lang="en-US" b="1" dirty="0" smtClean="0"/>
              <a:t>password .</a:t>
            </a:r>
            <a:endParaRPr lang="en-US" dirty="0" smtClean="0"/>
          </a:p>
          <a:p>
            <a:r>
              <a:rPr lang="en-US" b="1" dirty="0" smtClean="0"/>
              <a:t> </a:t>
            </a:r>
            <a:r>
              <a:rPr lang="en-US" b="1" dirty="0" smtClean="0"/>
              <a:t>Authentication .</a:t>
            </a:r>
            <a:endParaRPr lang="en-US" dirty="0" smtClean="0"/>
          </a:p>
          <a:p>
            <a:r>
              <a:rPr lang="en-US" b="1" dirty="0" smtClean="0"/>
              <a:t> </a:t>
            </a:r>
            <a:r>
              <a:rPr lang="en-US" b="1" dirty="0" smtClean="0"/>
              <a:t>Turn </a:t>
            </a:r>
            <a:r>
              <a:rPr lang="en-US" b="1" dirty="0" smtClean="0"/>
              <a:t>off universal plug and play</a:t>
            </a:r>
            <a:r>
              <a:rPr lang="en-US" b="1" dirty="0" smtClean="0"/>
              <a:t>.</a:t>
            </a:r>
            <a:endParaRPr lang="en-US" b="1" dirty="0" smtClean="0"/>
          </a:p>
          <a:p>
            <a:r>
              <a:rPr lang="en-US" b="1" dirty="0" smtClean="0"/>
              <a:t> Use </a:t>
            </a:r>
            <a:r>
              <a:rPr lang="en-US" b="1" dirty="0" smtClean="0"/>
              <a:t>secure </a:t>
            </a:r>
            <a:r>
              <a:rPr lang="en-US" b="1" dirty="0" smtClean="0"/>
              <a:t>device.</a:t>
            </a:r>
            <a:endParaRPr lang="en-US" dirty="0" smtClean="0"/>
          </a:p>
          <a:p>
            <a:r>
              <a:rPr lang="en-US" b="1" dirty="0" smtClean="0"/>
              <a:t> </a:t>
            </a:r>
            <a:r>
              <a:rPr lang="en-US" b="1" dirty="0" smtClean="0"/>
              <a:t>Be aware and alert of internet notification and </a:t>
            </a:r>
            <a:r>
              <a:rPr lang="en-US" b="1" dirty="0" smtClean="0"/>
              <a:t>spoofs.</a:t>
            </a:r>
            <a:endParaRPr lang="en-US" dirty="0" smtClean="0"/>
          </a:p>
          <a:p>
            <a:r>
              <a:rPr lang="en-US" b="1" dirty="0" smtClean="0"/>
              <a:t> </a:t>
            </a:r>
            <a:r>
              <a:rPr lang="en-US" b="1" dirty="0" smtClean="0"/>
              <a:t>Update </a:t>
            </a:r>
            <a:r>
              <a:rPr lang="en-US" b="1" dirty="0" smtClean="0"/>
              <a:t>your system </a:t>
            </a:r>
            <a:r>
              <a:rPr lang="en-US" b="1" dirty="0" smtClean="0"/>
              <a:t>periodically.</a:t>
            </a:r>
            <a:endParaRPr lang="en-US" dirty="0" smtClean="0"/>
          </a:p>
          <a:p>
            <a:endParaRPr lang="en-US" dirty="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p:txBody>
          <a:bodyPr>
            <a:normAutofit/>
          </a:bodyPr>
          <a:lstStyle/>
          <a:p>
            <a:pPr algn="ctr"/>
            <a:endParaRPr lang="en-US" sz="3600" dirty="0"/>
          </a:p>
        </p:txBody>
      </p:sp>
      <p:sp>
        <p:nvSpPr>
          <p:cNvPr id="6" name="Subtitle 5"/>
          <p:cNvSpPr>
            <a:spLocks noGrp="1"/>
          </p:cNvSpPr>
          <p:nvPr>
            <p:ph type="subTitle" idx="1"/>
          </p:nvPr>
        </p:nvSpPr>
        <p:spPr>
          <a:xfrm>
            <a:off x="1910080" y="1850064"/>
            <a:ext cx="9875520" cy="4169736"/>
          </a:xfrm>
        </p:spPr>
        <p:txBody>
          <a:bodyPr>
            <a:normAutofit/>
          </a:bodyPr>
          <a:lstStyle/>
          <a:p>
            <a:pPr algn="ctr"/>
            <a:r>
              <a:rPr lang="en-US" sz="5400" u="sng" dirty="0" smtClean="0">
                <a:solidFill>
                  <a:schemeClr val="tx1"/>
                </a:solidFill>
              </a:rPr>
              <a:t/>
            </a:r>
            <a:br>
              <a:rPr lang="en-US" sz="5400" u="sng" dirty="0" smtClean="0">
                <a:solidFill>
                  <a:schemeClr val="tx1"/>
                </a:solidFill>
              </a:rPr>
            </a:br>
            <a:r>
              <a:rPr lang="en-US" sz="5400" u="sng" dirty="0" smtClean="0">
                <a:solidFill>
                  <a:schemeClr val="tx1"/>
                </a:solidFill>
              </a:rPr>
              <a:t>THANKYOU</a:t>
            </a:r>
            <a:endParaRPr lang="en-US" sz="5400" dirty="0">
              <a:solidFill>
                <a:schemeClr val="tx1"/>
              </a:solidFill>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7503</TotalTime>
  <Words>599</Words>
  <Application>LibreOffice/5.4.1.2.0$Linux_X86_64 LibreOffice_project/40m0$Build-2</Application>
  <PresentationFormat>Custom</PresentationFormat>
  <Paragraphs>36</Paragraphs>
  <Slides>9</Slides>
  <Notes>0</Notes>
  <HiddenSlides>0</HiddenSlides>
  <MMClips>0</MMClips>
  <ScaleCrop>false</ScaleCrop>
  <HeadingPairs>
    <vt:vector size="4" baseType="variant">
      <vt:variant>
        <vt:lpstr>Theme</vt:lpstr>
      </vt:variant>
      <vt:variant>
        <vt:i4>2</vt:i4>
      </vt:variant>
      <vt:variant>
        <vt:lpstr>Slide Titles</vt:lpstr>
      </vt:variant>
      <vt:variant>
        <vt:i4>9</vt:i4>
      </vt:variant>
    </vt:vector>
  </HeadingPairs>
  <TitlesOfParts>
    <vt:vector size="11" baseType="lpstr">
      <vt:lpstr>Apex</vt:lpstr>
      <vt:lpstr>Solstice</vt:lpstr>
      <vt:lpstr>Slide 1</vt:lpstr>
      <vt:lpstr>“INTRODUCTION”</vt:lpstr>
      <vt:lpstr>FIRST DISCOVERED</vt:lpstr>
      <vt:lpstr>TECHNIQUES OF ATTACK</vt:lpstr>
      <vt:lpstr>Slide 5</vt:lpstr>
      <vt:lpstr>Spear phishing </vt:lpstr>
      <vt:lpstr>Zero-day Velnerability</vt:lpstr>
      <vt:lpstr>Techniques to defend</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ashu sharma</dc:creator>
  <dc:description/>
  <cp:lastModifiedBy>sunil</cp:lastModifiedBy>
  <cp:revision>93</cp:revision>
  <dcterms:created xsi:type="dcterms:W3CDTF">2017-08-30T22:29:09Z</dcterms:created>
  <dcterms:modified xsi:type="dcterms:W3CDTF">2017-10-30T08:35:15Z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1</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9</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48</vt:i4>
  </property>
</Properties>
</file>